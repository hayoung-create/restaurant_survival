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9" r:id="rId5"/>
    <p:sldId id="259" r:id="rId6"/>
    <p:sldId id="275" r:id="rId7"/>
    <p:sldId id="284" r:id="rId8"/>
    <p:sldId id="286" r:id="rId9"/>
    <p:sldId id="260" r:id="rId10"/>
    <p:sldId id="262" r:id="rId11"/>
    <p:sldId id="263" r:id="rId12"/>
    <p:sldId id="271" r:id="rId13"/>
    <p:sldId id="264" r:id="rId14"/>
    <p:sldId id="270" r:id="rId15"/>
    <p:sldId id="265" r:id="rId16"/>
    <p:sldId id="272" r:id="rId17"/>
    <p:sldId id="287" r:id="rId18"/>
    <p:sldId id="288" r:id="rId19"/>
    <p:sldId id="289" r:id="rId20"/>
    <p:sldId id="290" r:id="rId21"/>
    <p:sldId id="276" r:id="rId22"/>
    <p:sldId id="277" r:id="rId23"/>
    <p:sldId id="278" r:id="rId24"/>
    <p:sldId id="279" r:id="rId25"/>
    <p:sldId id="266" r:id="rId26"/>
    <p:sldId id="285" r:id="rId27"/>
    <p:sldId id="281" r:id="rId28"/>
    <p:sldId id="282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rQTSpbHfT2PWv9lvlkwPUkl0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755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0299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461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5492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585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2391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8947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3972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87152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04318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820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6700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/>
          <p:nvPr/>
        </p:nvSpPr>
        <p:spPr>
          <a:xfrm>
            <a:off x="0" y="761998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" name="Google Shape;18;p15"/>
          <p:cNvSpPr txBox="1">
            <a:spLocks noGrp="1"/>
          </p:cNvSpPr>
          <p:nvPr>
            <p:ph type="ctrTitle"/>
          </p:nvPr>
        </p:nvSpPr>
        <p:spPr>
          <a:xfrm>
            <a:off x="707366" y="1298448"/>
            <a:ext cx="7677682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ubTitle" idx="1"/>
          </p:nvPr>
        </p:nvSpPr>
        <p:spPr>
          <a:xfrm>
            <a:off x="737533" y="4670246"/>
            <a:ext cx="767768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빈 화면">
  <p:cSld name="4_빈 화면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628997" y="433382"/>
            <a:ext cx="10848109" cy="6151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4647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3728250" y="1271016"/>
            <a:ext cx="7631099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400"/>
              <a:buFont typeface="Arial"/>
              <a:buNone/>
              <a:defRPr sz="5400" b="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3728249" y="4672584"/>
            <a:ext cx="76310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7818120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빈 화면">
  <p:cSld name="5_빈 화면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10456353" y="6504915"/>
            <a:ext cx="1446432" cy="23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289212" y="233250"/>
            <a:ext cx="11613573" cy="1106664"/>
          </a:xfrm>
          <a:prstGeom prst="rect">
            <a:avLst/>
          </a:prstGeom>
          <a:solidFill>
            <a:srgbClr val="D7F0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34564" y="441725"/>
            <a:ext cx="11262513" cy="708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Noto Sans Symbols"/>
              <a:buNone/>
              <a:defRPr sz="40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289212" y="1630392"/>
            <a:ext cx="11613573" cy="478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rgbClr val="0C594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>
                <a:solidFill>
                  <a:srgbClr val="13867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 화면">
  <p:cSld name="빈 화면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9" name="Google Shape;49;p22"/>
          <p:cNvSpPr/>
          <p:nvPr/>
        </p:nvSpPr>
        <p:spPr>
          <a:xfrm>
            <a:off x="714895" y="433382"/>
            <a:ext cx="10848109" cy="6151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714895" y="1290554"/>
            <a:ext cx="5259266" cy="70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714895" y="2090960"/>
            <a:ext cx="5259266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714894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3"/>
          </p:nvPr>
        </p:nvSpPr>
        <p:spPr>
          <a:xfrm>
            <a:off x="6217841" y="1290554"/>
            <a:ext cx="5345162" cy="70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4"/>
          </p:nvPr>
        </p:nvSpPr>
        <p:spPr>
          <a:xfrm>
            <a:off x="6217841" y="2090960"/>
            <a:ext cx="5345162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빈 화면">
  <p:cSld name="7_빈 화면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57" name="Google Shape;57;p23"/>
          <p:cNvSpPr/>
          <p:nvPr/>
        </p:nvSpPr>
        <p:spPr>
          <a:xfrm>
            <a:off x="714895" y="433382"/>
            <a:ext cx="10848109" cy="6151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1"/>
          </p:nvPr>
        </p:nvSpPr>
        <p:spPr>
          <a:xfrm>
            <a:off x="714895" y="1290554"/>
            <a:ext cx="3443038" cy="70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2"/>
          </p:nvPr>
        </p:nvSpPr>
        <p:spPr>
          <a:xfrm>
            <a:off x="714895" y="2090960"/>
            <a:ext cx="3443038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714894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3"/>
          </p:nvPr>
        </p:nvSpPr>
        <p:spPr>
          <a:xfrm>
            <a:off x="4417430" y="1290554"/>
            <a:ext cx="3443038" cy="70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4"/>
          </p:nvPr>
        </p:nvSpPr>
        <p:spPr>
          <a:xfrm>
            <a:off x="4417430" y="2090960"/>
            <a:ext cx="3443038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5"/>
          </p:nvPr>
        </p:nvSpPr>
        <p:spPr>
          <a:xfrm>
            <a:off x="8119965" y="1290554"/>
            <a:ext cx="3443038" cy="70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6"/>
          </p:nvPr>
        </p:nvSpPr>
        <p:spPr>
          <a:xfrm>
            <a:off x="8119965" y="2090960"/>
            <a:ext cx="3443038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빈 화면">
  <p:cSld name="2_빈 화면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5" name="Google Shape;45;p21"/>
          <p:cNvSpPr/>
          <p:nvPr/>
        </p:nvSpPr>
        <p:spPr>
          <a:xfrm>
            <a:off x="628997" y="433382"/>
            <a:ext cx="10848109" cy="6151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sz="2800">
                <a:latin typeface="Abadi" panose="020B0604020104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71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14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0419004" y="6400800"/>
            <a:ext cx="1530927" cy="329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u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ctrTitle"/>
          </p:nvPr>
        </p:nvSpPr>
        <p:spPr>
          <a:xfrm>
            <a:off x="707366" y="1298448"/>
            <a:ext cx="7677682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ko-KR" dirty="0" err="1"/>
              <a:t>머신러닝</a:t>
            </a:r>
            <a:r>
              <a:rPr lang="ko-KR" dirty="0"/>
              <a:t> 팀 프로젝트</a:t>
            </a:r>
            <a:br>
              <a:rPr lang="ko-KR" dirty="0"/>
            </a:br>
            <a:endParaRPr dirty="0"/>
          </a:p>
        </p:txBody>
      </p:sp>
      <p:sp>
        <p:nvSpPr>
          <p:cNvPr id="73" name="Google Shape;73;p1"/>
          <p:cNvSpPr txBox="1">
            <a:spLocks noGrp="1"/>
          </p:cNvSpPr>
          <p:nvPr>
            <p:ph type="subTitle" idx="1"/>
          </p:nvPr>
        </p:nvSpPr>
        <p:spPr>
          <a:xfrm>
            <a:off x="737533" y="4670246"/>
            <a:ext cx="767768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altLang="ko-KR" dirty="0"/>
              <a:t>B - </a:t>
            </a:r>
            <a:r>
              <a:rPr lang="ko-KR" dirty="0" err="1"/>
              <a:t>Team</a:t>
            </a:r>
            <a:r>
              <a:rPr lang="ko-KR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프로젝트 개요</a:t>
            </a:r>
            <a:endParaRPr dirty="0"/>
          </a:p>
        </p:txBody>
      </p:sp>
      <p:pic>
        <p:nvPicPr>
          <p:cNvPr id="7" name="Picture 6" descr="map.png">
            <a:extLst>
              <a:ext uri="{FF2B5EF4-FFF2-40B4-BE49-F238E27FC236}">
                <a16:creationId xmlns:a16="http://schemas.microsoft.com/office/drawing/2014/main" id="{FB71B8B2-F033-482F-8574-414E0D5A53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50" t="5459" r="8782" b="5823"/>
          <a:stretch/>
        </p:blipFill>
        <p:spPr>
          <a:xfrm>
            <a:off x="628997" y="1200576"/>
            <a:ext cx="7018096" cy="547715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19ED0BE-CFB4-42FC-BDA0-667F870BF9C3}"/>
              </a:ext>
            </a:extLst>
          </p:cNvPr>
          <p:cNvSpPr/>
          <p:nvPr/>
        </p:nvSpPr>
        <p:spPr>
          <a:xfrm>
            <a:off x="3112868" y="2593170"/>
            <a:ext cx="2496312" cy="2496312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AAEC56-445B-4623-857B-E00AEB5115DF}"/>
              </a:ext>
            </a:extLst>
          </p:cNvPr>
          <p:cNvSpPr/>
          <p:nvPr/>
        </p:nvSpPr>
        <p:spPr>
          <a:xfrm>
            <a:off x="3086799" y="2993810"/>
            <a:ext cx="2331720" cy="2331720"/>
          </a:xfrm>
          <a:prstGeom prst="ellipse">
            <a:avLst/>
          </a:prstGeom>
          <a:solidFill>
            <a:srgbClr val="FFFFFF">
              <a:alpha val="50000"/>
            </a:srgbClr>
          </a:solidFill>
          <a:ln w="38100">
            <a:solidFill>
              <a:srgbClr val="40B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93C3BC-C7A2-4D8A-AD75-F88FFDE11916}"/>
              </a:ext>
            </a:extLst>
          </p:cNvPr>
          <p:cNvSpPr txBox="1"/>
          <p:nvPr/>
        </p:nvSpPr>
        <p:spPr>
          <a:xfrm>
            <a:off x="3152375" y="3984751"/>
            <a:ext cx="2148840" cy="471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dirty="0" err="1">
                <a:solidFill>
                  <a:srgbClr val="1B3A6B"/>
                </a:solidFill>
                <a:latin typeface="+mn-ea"/>
                <a:ea typeface="+mn-ea"/>
              </a:rPr>
              <a:t>생존율</a:t>
            </a:r>
            <a:r>
              <a:rPr sz="1700" b="1" dirty="0">
                <a:solidFill>
                  <a:srgbClr val="1B3A6B"/>
                </a:solidFill>
                <a:latin typeface="+mn-ea"/>
                <a:ea typeface="+mn-ea"/>
              </a:rPr>
              <a:t> </a:t>
            </a:r>
            <a:r>
              <a:rPr sz="1700" b="1" dirty="0" err="1">
                <a:solidFill>
                  <a:srgbClr val="1B3A6B"/>
                </a:solidFill>
                <a:latin typeface="+mn-ea"/>
                <a:ea typeface="+mn-ea"/>
              </a:rPr>
              <a:t>예측</a:t>
            </a:r>
            <a:endParaRPr sz="1700" b="1" dirty="0">
              <a:solidFill>
                <a:srgbClr val="1B3A6B"/>
              </a:solidFill>
              <a:latin typeface="+mn-ea"/>
              <a:ea typeface="+mn-ea"/>
            </a:endParaRPr>
          </a:p>
          <a:p>
            <a:pPr algn="ctr">
              <a:spcBef>
                <a:spcPts val="200"/>
              </a:spcBef>
            </a:pPr>
            <a:r>
              <a:rPr sz="1200" dirty="0">
                <a:solidFill>
                  <a:srgbClr val="545454"/>
                </a:solidFill>
                <a:latin typeface="+mn-ea"/>
                <a:ea typeface="+mn-ea"/>
              </a:rPr>
              <a:t>1·3·5년 AI </a:t>
            </a:r>
            <a:r>
              <a:rPr sz="1200" dirty="0" err="1">
                <a:solidFill>
                  <a:srgbClr val="545454"/>
                </a:solidFill>
                <a:latin typeface="+mn-ea"/>
                <a:ea typeface="+mn-ea"/>
              </a:rPr>
              <a:t>분석</a:t>
            </a:r>
            <a:endParaRPr sz="1200" dirty="0">
              <a:solidFill>
                <a:srgbClr val="545454"/>
              </a:solidFill>
              <a:latin typeface="+mn-ea"/>
              <a:ea typeface="+mn-ea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09E5199D-8F9E-459D-9787-B8661375F0F0}"/>
              </a:ext>
            </a:extLst>
          </p:cNvPr>
          <p:cNvSpPr txBox="1"/>
          <p:nvPr/>
        </p:nvSpPr>
        <p:spPr>
          <a:xfrm>
            <a:off x="7711757" y="1574393"/>
            <a:ext cx="4970621" cy="276999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0" i="0" u="none" dirty="0" err="1">
                <a:latin typeface="+mn-ea"/>
              </a:rPr>
              <a:t>대상</a:t>
            </a:r>
            <a:r>
              <a:rPr sz="1800" b="0" i="0" u="none" dirty="0">
                <a:latin typeface="+mn-ea"/>
              </a:rPr>
              <a:t> </a:t>
            </a:r>
            <a:r>
              <a:rPr sz="1800" b="0" i="0" u="none" dirty="0" err="1">
                <a:latin typeface="+mn-ea"/>
              </a:rPr>
              <a:t>고객</a:t>
            </a:r>
            <a:r>
              <a:rPr sz="1800" b="0" i="0" u="none" dirty="0">
                <a:latin typeface="+mn-ea"/>
              </a:rPr>
              <a:t> &amp; </a:t>
            </a:r>
            <a:r>
              <a:rPr sz="1800" b="0" i="0" u="none" dirty="0" err="1">
                <a:latin typeface="+mn-ea"/>
              </a:rPr>
              <a:t>요구</a:t>
            </a:r>
            <a:r>
              <a:rPr sz="1800" b="0" i="0" u="none" dirty="0">
                <a:latin typeface="+mn-ea"/>
              </a:rPr>
              <a:t> </a:t>
            </a:r>
            <a:r>
              <a:rPr sz="1800" b="0" i="0" u="none" dirty="0" err="1">
                <a:latin typeface="+mn-ea"/>
              </a:rPr>
              <a:t>사항</a:t>
            </a:r>
            <a:endParaRPr sz="1800" b="0" i="0" u="none" dirty="0">
              <a:latin typeface="+mn-ea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096274AA-E109-4F97-8D34-F6EB3E7C6F24}"/>
              </a:ext>
            </a:extLst>
          </p:cNvPr>
          <p:cNvSpPr txBox="1"/>
          <p:nvPr/>
        </p:nvSpPr>
        <p:spPr>
          <a:xfrm>
            <a:off x="7816426" y="2017527"/>
            <a:ext cx="4733925" cy="23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39"/>
              </a:lnSpc>
            </a:pPr>
            <a:r>
              <a:rPr sz="1275" b="1" i="0" u="none" dirty="0">
                <a:latin typeface="+mn-ea"/>
              </a:rPr>
              <a:t>• </a:t>
            </a:r>
            <a:r>
              <a:rPr sz="1275" b="1" i="0" u="none" dirty="0" err="1">
                <a:latin typeface="+mn-ea"/>
              </a:rPr>
              <a:t>대상</a:t>
            </a:r>
            <a:r>
              <a:rPr sz="1275" b="1" i="0" u="none" dirty="0">
                <a:latin typeface="+mn-ea"/>
              </a:rPr>
              <a:t> </a:t>
            </a:r>
            <a:r>
              <a:rPr sz="1275" b="1" i="0" u="none" dirty="0" err="1">
                <a:latin typeface="+mn-ea"/>
              </a:rPr>
              <a:t>고객</a:t>
            </a:r>
            <a:r>
              <a:rPr sz="1275" b="1" i="0" u="none" dirty="0">
                <a:latin typeface="+mn-ea"/>
              </a:rPr>
              <a:t>:</a:t>
            </a:r>
            <a:r>
              <a:rPr sz="1275" b="0" i="0" u="none" dirty="0">
                <a:latin typeface="+mn-ea"/>
              </a:rPr>
              <a:t> </a:t>
            </a:r>
            <a:r>
              <a:rPr sz="1275" b="0" i="0" u="none" dirty="0" err="1">
                <a:latin typeface="+mn-ea"/>
              </a:rPr>
              <a:t>서울시</a:t>
            </a:r>
            <a:r>
              <a:rPr sz="1275" b="0" i="0" u="none" dirty="0">
                <a:latin typeface="+mn-ea"/>
              </a:rPr>
              <a:t> </a:t>
            </a:r>
            <a:r>
              <a:rPr sz="1275" b="0" i="0" u="none" dirty="0" err="1">
                <a:latin typeface="+mn-ea"/>
              </a:rPr>
              <a:t>예비</a:t>
            </a:r>
            <a:r>
              <a:rPr sz="1275" b="0" i="0" u="none" dirty="0">
                <a:latin typeface="+mn-ea"/>
              </a:rPr>
              <a:t> </a:t>
            </a:r>
            <a:r>
              <a:rPr sz="1275" b="0" i="0" u="none" dirty="0" err="1">
                <a:latin typeface="+mn-ea"/>
              </a:rPr>
              <a:t>창업자</a:t>
            </a:r>
            <a:r>
              <a:rPr sz="1275" b="0" i="0" u="none" dirty="0">
                <a:latin typeface="+mn-ea"/>
              </a:rPr>
              <a:t>, </a:t>
            </a:r>
            <a:r>
              <a:rPr sz="1275" b="0" i="0" u="none" dirty="0" err="1">
                <a:latin typeface="+mn-ea"/>
              </a:rPr>
              <a:t>소상공인</a:t>
            </a:r>
            <a:r>
              <a:rPr lang="en-US" altLang="ko-KR" sz="1275" dirty="0">
                <a:latin typeface="+mn-ea"/>
              </a:rPr>
              <a:t> </a:t>
            </a:r>
            <a:r>
              <a:rPr lang="ko-KR" altLang="en-US" sz="1275" dirty="0">
                <a:latin typeface="+mn-ea"/>
              </a:rPr>
              <a:t>등</a:t>
            </a:r>
            <a:endParaRPr sz="1275" b="0" i="0" u="none" dirty="0">
              <a:latin typeface="+mn-ea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6673EDE9-3854-4DFF-A3A2-A6F821F607DE}"/>
              </a:ext>
            </a:extLst>
          </p:cNvPr>
          <p:cNvSpPr txBox="1"/>
          <p:nvPr/>
        </p:nvSpPr>
        <p:spPr>
          <a:xfrm>
            <a:off x="7816425" y="2361749"/>
            <a:ext cx="3660681" cy="487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39"/>
              </a:lnSpc>
            </a:pPr>
            <a:r>
              <a:rPr sz="1275" b="1" i="0" u="none" dirty="0">
                <a:latin typeface="+mn-ea"/>
                <a:cs typeface="맑은 고딕 Semilight" panose="020B0502040204020203" pitchFamily="50" charset="-127"/>
              </a:rPr>
              <a:t>• </a:t>
            </a:r>
            <a:r>
              <a:rPr sz="1275" b="1" i="0" u="none" dirty="0" err="1">
                <a:latin typeface="+mn-ea"/>
                <a:cs typeface="맑은 고딕 Semilight" panose="020B0502040204020203" pitchFamily="50" charset="-127"/>
              </a:rPr>
              <a:t>핵심</a:t>
            </a:r>
            <a:r>
              <a:rPr sz="1275" b="1" i="0" u="none" dirty="0">
                <a:latin typeface="+mn-ea"/>
                <a:cs typeface="맑은 고딕 Semilight" panose="020B0502040204020203" pitchFamily="50" charset="-127"/>
              </a:rPr>
              <a:t> </a:t>
            </a:r>
            <a:r>
              <a:rPr sz="1275" b="1" i="0" u="none" dirty="0" err="1">
                <a:latin typeface="+mn-ea"/>
                <a:cs typeface="맑은 고딕 Semilight" panose="020B0502040204020203" pitchFamily="50" charset="-127"/>
              </a:rPr>
              <a:t>요구사항</a:t>
            </a:r>
            <a:r>
              <a:rPr sz="1275" b="1" i="0" u="none" dirty="0">
                <a:latin typeface="+mn-ea"/>
                <a:cs typeface="맑은 고딕 Semilight" panose="020B0502040204020203" pitchFamily="50" charset="-127"/>
              </a:rPr>
              <a:t>:</a:t>
            </a:r>
            <a:r>
              <a:rPr sz="1275" b="0" i="0" u="none" dirty="0">
                <a:latin typeface="+mn-ea"/>
                <a:cs typeface="맑은 고딕 Semilight" panose="020B0502040204020203" pitchFamily="50" charset="-127"/>
              </a:rPr>
              <a:t> </a:t>
            </a:r>
            <a:r>
              <a:rPr sz="1275" b="0" i="0" u="none" dirty="0" err="1">
                <a:latin typeface="+mn-ea"/>
                <a:cs typeface="맑은 고딕 Semilight" panose="020B0502040204020203" pitchFamily="50" charset="-127"/>
              </a:rPr>
              <a:t>막연한</a:t>
            </a:r>
            <a:r>
              <a:rPr lang="en-US" altLang="ko-KR" sz="1275" b="0" i="0" u="none" dirty="0">
                <a:latin typeface="+mn-ea"/>
                <a:cs typeface="맑은 고딕 Semilight" panose="020B0502040204020203" pitchFamily="50" charset="-127"/>
              </a:rPr>
              <a:t> </a:t>
            </a:r>
            <a:r>
              <a:rPr lang="ko-KR" altLang="en-US" sz="1275" b="0" i="0" u="none" dirty="0">
                <a:latin typeface="+mn-ea"/>
                <a:cs typeface="맑은 고딕 Semilight" panose="020B0502040204020203" pitchFamily="50" charset="-127"/>
              </a:rPr>
              <a:t>사업분석</a:t>
            </a:r>
            <a:r>
              <a:rPr lang="en-US" altLang="ko-KR" sz="1275" b="0" i="0" u="none" dirty="0">
                <a:latin typeface="+mn-ea"/>
                <a:cs typeface="맑은 고딕 Semilight" panose="020B0502040204020203" pitchFamily="50" charset="-127"/>
              </a:rPr>
              <a:t>, </a:t>
            </a:r>
            <a:r>
              <a:rPr sz="1275" b="0" i="0" u="none" dirty="0">
                <a:latin typeface="+mn-ea"/>
                <a:cs typeface="맑은 고딕 Semilight" panose="020B0502040204020203" pitchFamily="50" charset="-127"/>
              </a:rPr>
              <a:t> </a:t>
            </a:r>
            <a:r>
              <a:rPr sz="1275" b="0" i="0" u="none" dirty="0" err="1">
                <a:latin typeface="+mn-ea"/>
                <a:cs typeface="맑은 고딕 Semilight" panose="020B0502040204020203" pitchFamily="50" charset="-127"/>
              </a:rPr>
              <a:t>폐업</a:t>
            </a:r>
            <a:r>
              <a:rPr lang="en-US" altLang="ko-KR" sz="1275" b="0" i="0" u="none" dirty="0">
                <a:latin typeface="+mn-ea"/>
                <a:cs typeface="맑은 고딕 Semilight" panose="020B0502040204020203" pitchFamily="50" charset="-127"/>
              </a:rPr>
              <a:t> </a:t>
            </a:r>
            <a:r>
              <a:rPr lang="ko-KR" altLang="en-US" sz="1275" b="0" i="0" u="none" dirty="0">
                <a:latin typeface="+mn-ea"/>
                <a:cs typeface="맑은 고딕 Semilight" panose="020B0502040204020203" pitchFamily="50" charset="-127"/>
              </a:rPr>
              <a:t>리스크에</a:t>
            </a:r>
            <a:br>
              <a:rPr lang="en-US" altLang="ko-KR" sz="1275" b="0" i="0" u="none" dirty="0">
                <a:latin typeface="+mn-ea"/>
                <a:cs typeface="맑은 고딕 Semilight" panose="020B0502040204020203" pitchFamily="50" charset="-127"/>
              </a:rPr>
            </a:br>
            <a:r>
              <a:rPr lang="en-US" altLang="ko-KR" sz="1275" b="0" i="0" u="none" dirty="0">
                <a:latin typeface="+mn-ea"/>
                <a:cs typeface="맑은 고딕 Semilight" panose="020B0502040204020203" pitchFamily="50" charset="-127"/>
              </a:rPr>
              <a:t>   </a:t>
            </a:r>
            <a:r>
              <a:rPr lang="ko-KR" altLang="en-US" sz="1275" b="0" i="0" u="none" dirty="0">
                <a:latin typeface="+mn-ea"/>
                <a:cs typeface="맑은 고딕 Semilight" panose="020B0502040204020203" pitchFamily="50" charset="-127"/>
              </a:rPr>
              <a:t>대한 사전 판단 예측</a:t>
            </a:r>
            <a:endParaRPr sz="1275" b="0" i="0" u="none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4A075D-13DB-409D-A965-932E04A4B6B5}"/>
              </a:ext>
            </a:extLst>
          </p:cNvPr>
          <p:cNvSpPr/>
          <p:nvPr/>
        </p:nvSpPr>
        <p:spPr>
          <a:xfrm>
            <a:off x="7711757" y="1200576"/>
            <a:ext cx="3765349" cy="5477156"/>
          </a:xfrm>
          <a:prstGeom prst="rect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BC94637E-3B25-4C74-A3C5-6487E846FC1C}"/>
              </a:ext>
            </a:extLst>
          </p:cNvPr>
          <p:cNvSpPr txBox="1"/>
          <p:nvPr/>
        </p:nvSpPr>
        <p:spPr>
          <a:xfrm>
            <a:off x="7711757" y="3483753"/>
            <a:ext cx="4970621" cy="276999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dirty="0">
                <a:latin typeface="+mn-ea"/>
              </a:rPr>
              <a:t>기존의 해결 방법</a:t>
            </a:r>
            <a:endParaRPr sz="1800" b="0" i="0" u="none" dirty="0">
              <a:latin typeface="+mn-ea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62F71477-877E-40FE-9174-8EDED72EA9A6}"/>
              </a:ext>
            </a:extLst>
          </p:cNvPr>
          <p:cNvSpPr txBox="1"/>
          <p:nvPr/>
        </p:nvSpPr>
        <p:spPr>
          <a:xfrm>
            <a:off x="7816426" y="3853111"/>
            <a:ext cx="4733925" cy="23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39"/>
              </a:lnSpc>
            </a:pPr>
            <a:r>
              <a:rPr sz="1275" b="1" i="0" u="none" dirty="0">
                <a:latin typeface="+mn-ea"/>
              </a:rPr>
              <a:t>• </a:t>
            </a:r>
            <a:r>
              <a:rPr lang="en-US" altLang="ko-KR" sz="1275" b="1" i="0" u="none" dirty="0">
                <a:latin typeface="+mn-ea"/>
              </a:rPr>
              <a:t> </a:t>
            </a:r>
            <a:r>
              <a:rPr lang="ko-KR" altLang="en-US" sz="1275" b="1" i="0" u="none" dirty="0">
                <a:latin typeface="+mn-ea"/>
              </a:rPr>
              <a:t>정성적</a:t>
            </a:r>
            <a:r>
              <a:rPr sz="1275" b="1" i="0" u="none" dirty="0">
                <a:latin typeface="+mn-ea"/>
              </a:rPr>
              <a:t> </a:t>
            </a:r>
            <a:r>
              <a:rPr lang="ko-KR" altLang="en-US" sz="1275" b="1" i="0" u="none" dirty="0">
                <a:latin typeface="+mn-ea"/>
              </a:rPr>
              <a:t>파악</a:t>
            </a:r>
            <a:r>
              <a:rPr sz="1275" b="1" i="0" u="none" dirty="0">
                <a:latin typeface="+mn-ea"/>
              </a:rPr>
              <a:t>:</a:t>
            </a:r>
            <a:r>
              <a:rPr sz="1275" b="0" i="0" u="none" dirty="0">
                <a:latin typeface="+mn-ea"/>
              </a:rPr>
              <a:t> </a:t>
            </a:r>
            <a:r>
              <a:rPr lang="en-US" altLang="ko-KR" sz="1275" b="0" i="0" u="none" dirty="0">
                <a:latin typeface="+mn-ea"/>
              </a:rPr>
              <a:t>  </a:t>
            </a:r>
            <a:r>
              <a:rPr lang="ko-KR" altLang="en-US" sz="1275" b="0" i="0" u="none" dirty="0">
                <a:latin typeface="+mn-ea"/>
              </a:rPr>
              <a:t>주변 사람 문의</a:t>
            </a:r>
            <a:r>
              <a:rPr lang="en-US" altLang="ko-KR" sz="1275" b="0" i="0" u="none" dirty="0">
                <a:latin typeface="+mn-ea"/>
              </a:rPr>
              <a:t>, </a:t>
            </a:r>
            <a:r>
              <a:rPr lang="ko-KR" altLang="en-US" sz="1275" b="0" i="0" u="none" dirty="0">
                <a:latin typeface="+mn-ea"/>
              </a:rPr>
              <a:t>감으로 판단 등</a:t>
            </a:r>
            <a:endParaRPr sz="1275" b="0" i="0" u="none" dirty="0">
              <a:latin typeface="+mn-ea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95BCB733-DAD9-4480-9F15-CDF5B58C39DD}"/>
              </a:ext>
            </a:extLst>
          </p:cNvPr>
          <p:cNvSpPr txBox="1"/>
          <p:nvPr/>
        </p:nvSpPr>
        <p:spPr>
          <a:xfrm>
            <a:off x="7816426" y="4159586"/>
            <a:ext cx="4733925" cy="23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39"/>
              </a:lnSpc>
            </a:pPr>
            <a:r>
              <a:rPr sz="1275" b="1" i="0" u="none" dirty="0">
                <a:latin typeface="+mn-ea"/>
              </a:rPr>
              <a:t>• </a:t>
            </a:r>
            <a:r>
              <a:rPr lang="en-US" altLang="ko-KR" sz="1275" b="1" i="0" u="none" dirty="0">
                <a:latin typeface="+mn-ea"/>
              </a:rPr>
              <a:t> </a:t>
            </a:r>
            <a:r>
              <a:rPr lang="ko-KR" altLang="en-US" sz="1275" b="1" i="0" u="none" dirty="0">
                <a:latin typeface="+mn-ea"/>
              </a:rPr>
              <a:t>정량적</a:t>
            </a:r>
            <a:r>
              <a:rPr sz="1275" b="1" i="0" u="none" dirty="0">
                <a:latin typeface="+mn-ea"/>
              </a:rPr>
              <a:t> </a:t>
            </a:r>
            <a:r>
              <a:rPr lang="ko-KR" altLang="en-US" sz="1275" b="1" i="0" u="none" dirty="0">
                <a:latin typeface="+mn-ea"/>
              </a:rPr>
              <a:t>파악</a:t>
            </a:r>
            <a:r>
              <a:rPr sz="1275" b="1" i="0" u="none" dirty="0">
                <a:latin typeface="+mn-ea"/>
              </a:rPr>
              <a:t>:</a:t>
            </a:r>
            <a:r>
              <a:rPr sz="1275" b="0" i="0" u="none" dirty="0">
                <a:latin typeface="+mn-ea"/>
              </a:rPr>
              <a:t> </a:t>
            </a:r>
            <a:r>
              <a:rPr lang="en-US" altLang="ko-KR" sz="1275" b="0" i="0" u="none" dirty="0">
                <a:latin typeface="+mn-ea"/>
              </a:rPr>
              <a:t>  </a:t>
            </a:r>
            <a:r>
              <a:rPr lang="ko-KR" altLang="en-US" sz="1275" b="0" i="0" u="none" dirty="0">
                <a:latin typeface="+mn-ea"/>
              </a:rPr>
              <a:t>정보 다양 복잡</a:t>
            </a:r>
            <a:r>
              <a:rPr lang="en-US" altLang="ko-KR" sz="1275" b="0" i="0" u="none" dirty="0">
                <a:latin typeface="+mn-ea"/>
              </a:rPr>
              <a:t>. </a:t>
            </a:r>
            <a:r>
              <a:rPr lang="ko-KR" altLang="en-US" sz="1275" dirty="0">
                <a:latin typeface="+mn-ea"/>
              </a:rPr>
              <a:t>혼란</a:t>
            </a:r>
            <a:endParaRPr sz="1275" b="0" i="0" u="none" dirty="0">
              <a:latin typeface="+mn-ea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0A0A4451-1813-4B15-ADA2-7857C3254094}"/>
              </a:ext>
            </a:extLst>
          </p:cNvPr>
          <p:cNvSpPr txBox="1"/>
          <p:nvPr/>
        </p:nvSpPr>
        <p:spPr>
          <a:xfrm>
            <a:off x="7711757" y="5102697"/>
            <a:ext cx="4970621" cy="276999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dirty="0">
                <a:latin typeface="+mn-ea"/>
              </a:rPr>
              <a:t>해결 방법</a:t>
            </a:r>
            <a:endParaRPr sz="1800" b="0" i="0" u="none" dirty="0">
              <a:latin typeface="+mn-ea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39ED8101-6BCF-4E38-9844-3758C90EC9BE}"/>
              </a:ext>
            </a:extLst>
          </p:cNvPr>
          <p:cNvSpPr txBox="1"/>
          <p:nvPr/>
        </p:nvSpPr>
        <p:spPr>
          <a:xfrm>
            <a:off x="7816427" y="5513547"/>
            <a:ext cx="3660680" cy="74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39"/>
              </a:lnSpc>
            </a:pPr>
            <a:r>
              <a:rPr sz="1275" b="1" i="0" u="none" dirty="0">
                <a:latin typeface="+mn-ea"/>
              </a:rPr>
              <a:t>• </a:t>
            </a:r>
            <a:r>
              <a:rPr lang="en-US" altLang="ko-KR" sz="1275" b="1" i="0" u="none" dirty="0">
                <a:latin typeface="+mn-ea"/>
              </a:rPr>
              <a:t> AI </a:t>
            </a:r>
            <a:r>
              <a:rPr lang="ko-KR" altLang="en-US" sz="1275" b="1" i="0" u="none" dirty="0">
                <a:latin typeface="+mn-ea"/>
              </a:rPr>
              <a:t>모델을 이용 한 숫자로 예측 </a:t>
            </a:r>
            <a:br>
              <a:rPr lang="en-US" altLang="ko-KR" sz="1275" b="1" i="0" u="none" dirty="0">
                <a:latin typeface="+mn-ea"/>
              </a:rPr>
            </a:br>
            <a:r>
              <a:rPr lang="en-US" altLang="ko-KR" sz="1275" b="1" i="0" u="none" dirty="0">
                <a:latin typeface="+mn-ea"/>
              </a:rPr>
              <a:t>   </a:t>
            </a:r>
            <a:r>
              <a:rPr lang="en-US" altLang="ko-KR" sz="1200" b="1" i="0" u="none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지역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업종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매장규모</a:t>
            </a:r>
            <a:r>
              <a:rPr lang="en-US" altLang="ko-KR" sz="1200" b="1" dirty="0">
                <a:latin typeface="+mn-ea"/>
              </a:rPr>
              <a:t>)</a:t>
            </a:r>
            <a:endParaRPr lang="en-US" altLang="ko-KR" sz="1200" b="1" i="0" u="none" dirty="0">
              <a:latin typeface="+mn-ea"/>
            </a:endParaRPr>
          </a:p>
          <a:p>
            <a:pPr>
              <a:lnSpc>
                <a:spcPts val="2039"/>
              </a:lnSpc>
            </a:pPr>
            <a:r>
              <a:rPr lang="en-US" altLang="ko-KR" sz="1275" b="1" dirty="0">
                <a:latin typeface="+mn-ea"/>
              </a:rPr>
              <a:t>• </a:t>
            </a:r>
            <a:r>
              <a:rPr lang="ko-KR" altLang="en-US" sz="1275" b="1" dirty="0">
                <a:latin typeface="+mn-ea"/>
              </a:rPr>
              <a:t> 실데이터 정보를 보고 나의 경쟁자와의 가늠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데이터 준비</a:t>
            </a:r>
            <a:endParaRPr/>
          </a:p>
        </p:txBody>
      </p:sp>
      <p:sp>
        <p:nvSpPr>
          <p:cNvPr id="85" name="Google Shape;85;p3"/>
          <p:cNvSpPr txBox="1">
            <a:spLocks noGrp="1"/>
          </p:cNvSpPr>
          <p:nvPr>
            <p:ph type="body" idx="1"/>
          </p:nvPr>
        </p:nvSpPr>
        <p:spPr>
          <a:xfrm>
            <a:off x="628997" y="1331649"/>
            <a:ext cx="10848109" cy="519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indent="-182880">
              <a:lnSpc>
                <a:spcPct val="150000"/>
              </a:lnSpc>
              <a:spcBef>
                <a:spcPts val="0"/>
              </a:spcBef>
            </a:pPr>
            <a:r>
              <a:rPr lang="ko-KR" sz="1600" dirty="0">
                <a:solidFill>
                  <a:schemeClr val="tx1"/>
                </a:solidFill>
                <a:latin typeface="+mn-ea"/>
                <a:ea typeface="+mn-ea"/>
              </a:rPr>
              <a:t>학습용 원시 데이터 설명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원시 데이터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식품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_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일반음식점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_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서울특별시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.csv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공공데이터포털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서울시 각 지역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동단위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별 음식점의 인허가일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폐업일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영업여부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업태구분명 등의 데이터가 수록되어 있음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Shape : (537186, 39)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endParaRPr lang="ko-KR" altLang="en-US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82880" lvl="0" indent="-18288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sz="1600" dirty="0">
                <a:solidFill>
                  <a:schemeClr val="tx1"/>
                </a:solidFill>
                <a:latin typeface="+mn-ea"/>
                <a:ea typeface="+mn-ea"/>
              </a:rPr>
              <a:t>데이터 </a:t>
            </a:r>
            <a:r>
              <a:rPr lang="ko-KR" sz="1600" dirty="0" err="1">
                <a:solidFill>
                  <a:schemeClr val="tx1"/>
                </a:solidFill>
                <a:latin typeface="+mn-ea"/>
                <a:ea typeface="+mn-ea"/>
              </a:rPr>
              <a:t>전처리</a:t>
            </a:r>
            <a:r>
              <a:rPr lang="ko-KR" sz="1600" dirty="0">
                <a:solidFill>
                  <a:schemeClr val="tx1"/>
                </a:solidFill>
                <a:latin typeface="+mn-ea"/>
                <a:ea typeface="+mn-ea"/>
              </a:rPr>
              <a:t> : </a:t>
            </a:r>
            <a:r>
              <a:rPr lang="ko-KR" sz="1600" dirty="0" err="1">
                <a:solidFill>
                  <a:schemeClr val="tx1"/>
                </a:solidFill>
                <a:latin typeface="+mn-ea"/>
                <a:ea typeface="+mn-ea"/>
              </a:rPr>
              <a:t>결측치</a:t>
            </a:r>
            <a:r>
              <a:rPr lang="ko-KR" sz="1600" dirty="0">
                <a:solidFill>
                  <a:schemeClr val="tx1"/>
                </a:solidFill>
                <a:latin typeface="+mn-ea"/>
                <a:ea typeface="+mn-ea"/>
              </a:rPr>
              <a:t>, 특성 인코딩/변환 등 설명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불필요 컬럼 제거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관리번호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도로명주소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좌표 등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29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개 무의미한 피처 삭제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날짜 형식의 데이터타입 변환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기간 필터링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2000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년 이후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(2000-01-01~)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인허가 데이터 추출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결측치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및 타입 정제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소재지면적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결측치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제거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종사자수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남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여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) 0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보정 후 정수형 변환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파생 변수 추출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지번주소 파싱을 통해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구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], [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동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]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분리 정제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남성종사자수와 여성종사자수를 합하여 총종사자수 추가</a:t>
            </a: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Label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생성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폐업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(0), 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영업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(1) -&gt; 1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년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3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년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, 5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년 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기간은 ‘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최종수정시점’에서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‘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인허가일자’를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 빼서 구함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ko-KR" altLang="en-US" sz="16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데이터 준비</a:t>
            </a:r>
            <a:endParaRPr/>
          </a:p>
        </p:txBody>
      </p:sp>
      <p:sp>
        <p:nvSpPr>
          <p:cNvPr id="85" name="Google Shape;85;p3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99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/>
            <a:r>
              <a:rPr lang="ko-KR" altLang="ko-KR" dirty="0">
                <a:solidFill>
                  <a:schemeClr val="tx1"/>
                </a:solidFill>
                <a:latin typeface="+mn-ea"/>
                <a:ea typeface="+mn-ea"/>
              </a:rPr>
              <a:t>학습용 최종 데이터 설명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0" indent="0">
              <a:buNone/>
            </a:pP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- 'label', '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소재지면적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', '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업태구분명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', '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구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', '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동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', '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총종사자수</a:t>
            </a:r>
            <a:r>
              <a:rPr lang="en-US" altLang="ko-KR" sz="1600" dirty="0">
                <a:solidFill>
                  <a:schemeClr val="tx1"/>
                </a:solidFill>
                <a:latin typeface="+mn-ea"/>
                <a:ea typeface="+mn-ea"/>
              </a:rPr>
              <a:t>', '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  <a:ea typeface="+mn-ea"/>
              </a:rPr>
              <a:t>동종업체수</a:t>
            </a:r>
            <a:r>
              <a:rPr lang="ko-KR" altLang="en-US" sz="1600" dirty="0">
                <a:solidFill>
                  <a:schemeClr val="tx1"/>
                </a:solidFill>
                <a:latin typeface="+mn-ea"/>
                <a:ea typeface="+mn-ea"/>
              </a:rPr>
              <a:t>’</a:t>
            </a: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02B6C3-06BF-4F3A-992A-87B4259F8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628651"/>
              </p:ext>
            </p:extLst>
          </p:nvPr>
        </p:nvGraphicFramePr>
        <p:xfrm>
          <a:off x="887307" y="2585011"/>
          <a:ext cx="9851577" cy="2966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81386">
                  <a:extLst>
                    <a:ext uri="{9D8B030D-6E8A-4147-A177-3AD203B41FA5}">
                      <a16:colId xmlns:a16="http://schemas.microsoft.com/office/drawing/2014/main" val="3877266547"/>
                    </a:ext>
                  </a:extLst>
                </a:gridCol>
                <a:gridCol w="8070191">
                  <a:extLst>
                    <a:ext uri="{9D8B030D-6E8A-4147-A177-3AD203B41FA5}">
                      <a16:colId xmlns:a16="http://schemas.microsoft.com/office/drawing/2014/main" val="3251616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500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label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영업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(1),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폐업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(0) 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특정 기간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5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의 영업 상태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05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구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주소에서 발췌한 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강남구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동작구 등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222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동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주소에서 발췌한 동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삼성동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역삼동 등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188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업태구분명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한식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일식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분식 등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60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소재지면적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소재지 면적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(m2)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10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동종업체수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동일한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동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에서 동일한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의 총 합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39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총종사자수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남성종사자수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여성종사자수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30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06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데이터 준비 (구현 코드 설명)</a:t>
            </a:r>
            <a:endParaRPr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40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-KR" dirty="0">
                <a:latin typeface="+mn-ea"/>
                <a:ea typeface="+mn-ea"/>
              </a:rPr>
              <a:t>데이터 </a:t>
            </a:r>
            <a:r>
              <a:rPr lang="ko-KR" dirty="0" err="1">
                <a:latin typeface="+mn-ea"/>
                <a:ea typeface="+mn-ea"/>
              </a:rPr>
              <a:t>전처리</a:t>
            </a:r>
            <a:r>
              <a:rPr lang="ko-KR" dirty="0">
                <a:latin typeface="+mn-ea"/>
                <a:ea typeface="+mn-ea"/>
              </a:rPr>
              <a:t> 과정의 주요 부분을 발췌하여 설명. (필요에 따라 페이지 추가)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4" name="Google Shape;91;p4">
            <a:extLst>
              <a:ext uri="{FF2B5EF4-FFF2-40B4-BE49-F238E27FC236}">
                <a16:creationId xmlns:a16="http://schemas.microsoft.com/office/drawing/2014/main" id="{1BCBD3ED-B5B2-49D2-9ED8-49F09621C47E}"/>
              </a:ext>
            </a:extLst>
          </p:cNvPr>
          <p:cNvSpPr txBox="1">
            <a:spLocks/>
          </p:cNvSpPr>
          <p:nvPr/>
        </p:nvSpPr>
        <p:spPr>
          <a:xfrm>
            <a:off x="628997" y="1807531"/>
            <a:ext cx="10848109" cy="4430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>
                <a:latin typeface="+mn-ea"/>
                <a:ea typeface="+mn-ea"/>
              </a:rPr>
              <a:t>불필요한 컬럼 제거 </a:t>
            </a:r>
          </a:p>
          <a:p>
            <a:pPr marL="101600" indent="0">
              <a:buNone/>
            </a:pPr>
            <a:r>
              <a:rPr lang="en-US" altLang="ko-KR" sz="1600" dirty="0" err="1">
                <a:latin typeface="+mn-ea"/>
                <a:ea typeface="+mn-ea"/>
              </a:rPr>
              <a:t>df_tmp</a:t>
            </a:r>
            <a:r>
              <a:rPr lang="en-US" altLang="ko-KR" sz="1600" dirty="0">
                <a:latin typeface="+mn-ea"/>
                <a:ea typeface="+mn-ea"/>
              </a:rPr>
              <a:t> = </a:t>
            </a:r>
            <a:r>
              <a:rPr lang="en-US" altLang="ko-KR" sz="1600" dirty="0" err="1">
                <a:latin typeface="+mn-ea"/>
                <a:ea typeface="+mn-ea"/>
              </a:rPr>
              <a:t>df_tmp.drop</a:t>
            </a:r>
            <a:r>
              <a:rPr lang="en-US" altLang="ko-KR" sz="1600" dirty="0">
                <a:latin typeface="+mn-ea"/>
                <a:ea typeface="+mn-ea"/>
              </a:rPr>
              <a:t>(columns=['</a:t>
            </a:r>
            <a:r>
              <a:rPr lang="ko-KR" altLang="en-US" sz="1600" dirty="0">
                <a:latin typeface="+mn-ea"/>
                <a:ea typeface="+mn-ea"/>
              </a:rPr>
              <a:t>소재지우편번호’</a:t>
            </a:r>
            <a:r>
              <a:rPr lang="en-US" altLang="ko-KR" sz="1600" dirty="0">
                <a:latin typeface="+mn-ea"/>
                <a:ea typeface="+mn-ea"/>
              </a:rPr>
              <a:t>, …, '</a:t>
            </a:r>
            <a:r>
              <a:rPr lang="ko-KR" altLang="en-US" sz="1600" dirty="0" err="1">
                <a:latin typeface="+mn-ea"/>
                <a:ea typeface="+mn-ea"/>
              </a:rPr>
              <a:t>위생업태명</a:t>
            </a:r>
            <a:r>
              <a:rPr lang="ko-KR" altLang="en-US" sz="1600" dirty="0">
                <a:latin typeface="+mn-ea"/>
                <a:ea typeface="+mn-ea"/>
              </a:rPr>
              <a:t>’</a:t>
            </a:r>
            <a:r>
              <a:rPr lang="en-US" altLang="ko-KR" sz="1600" dirty="0">
                <a:latin typeface="+mn-ea"/>
                <a:ea typeface="+mn-ea"/>
              </a:rPr>
              <a:t>])</a:t>
            </a:r>
          </a:p>
          <a:p>
            <a:pPr marL="1016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>
                <a:latin typeface="+mn-ea"/>
                <a:ea typeface="+mn-ea"/>
              </a:rPr>
              <a:t>날짜 형식의 데이터 타입 정리</a:t>
            </a:r>
          </a:p>
          <a:p>
            <a:pPr marL="101600" indent="0">
              <a:buNone/>
            </a:pPr>
            <a:r>
              <a:rPr lang="en-US" altLang="ko-KR" sz="1600" dirty="0" err="1">
                <a:latin typeface="+mn-ea"/>
                <a:ea typeface="+mn-ea"/>
              </a:rPr>
              <a:t>df_tmp</a:t>
            </a:r>
            <a:r>
              <a:rPr lang="en-US" altLang="ko-KR" sz="1600" dirty="0">
                <a:latin typeface="+mn-ea"/>
                <a:ea typeface="+mn-ea"/>
              </a:rPr>
              <a:t>['</a:t>
            </a:r>
            <a:r>
              <a:rPr lang="ko-KR" altLang="en-US" sz="1600" dirty="0">
                <a:latin typeface="+mn-ea"/>
                <a:ea typeface="+mn-ea"/>
              </a:rPr>
              <a:t>인허가일자</a:t>
            </a:r>
            <a:r>
              <a:rPr lang="en-US" altLang="ko-KR" sz="1600" dirty="0">
                <a:latin typeface="+mn-ea"/>
                <a:ea typeface="+mn-ea"/>
              </a:rPr>
              <a:t>'] = </a:t>
            </a:r>
            <a:r>
              <a:rPr lang="en-US" altLang="ko-KR" sz="1600" dirty="0" err="1">
                <a:latin typeface="+mn-ea"/>
                <a:ea typeface="+mn-ea"/>
              </a:rPr>
              <a:t>pd.to_datetime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en-US" altLang="ko-KR" sz="1600" dirty="0" err="1">
                <a:latin typeface="+mn-ea"/>
                <a:ea typeface="+mn-ea"/>
              </a:rPr>
              <a:t>df_tmp</a:t>
            </a:r>
            <a:r>
              <a:rPr lang="en-US" altLang="ko-KR" sz="1600" dirty="0">
                <a:latin typeface="+mn-ea"/>
                <a:ea typeface="+mn-ea"/>
              </a:rPr>
              <a:t>['</a:t>
            </a:r>
            <a:r>
              <a:rPr lang="ko-KR" altLang="en-US" sz="1600" dirty="0">
                <a:latin typeface="+mn-ea"/>
                <a:ea typeface="+mn-ea"/>
              </a:rPr>
              <a:t>인허가일자</a:t>
            </a:r>
            <a:r>
              <a:rPr lang="en-US" altLang="ko-KR" sz="1600" dirty="0">
                <a:latin typeface="+mn-ea"/>
                <a:ea typeface="+mn-ea"/>
              </a:rPr>
              <a:t>'], errors='coerce')</a:t>
            </a:r>
          </a:p>
          <a:p>
            <a:pPr marL="1016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>
                <a:latin typeface="+mn-ea"/>
                <a:ea typeface="+mn-ea"/>
              </a:rPr>
              <a:t>인허가일자 기준으로 </a:t>
            </a:r>
            <a:r>
              <a:rPr lang="en-US" altLang="ko-KR" sz="1600" dirty="0">
                <a:latin typeface="+mn-ea"/>
                <a:ea typeface="+mn-ea"/>
              </a:rPr>
              <a:t>2000</a:t>
            </a:r>
            <a:r>
              <a:rPr lang="ko-KR" altLang="en-US" sz="1600" dirty="0">
                <a:latin typeface="+mn-ea"/>
                <a:ea typeface="+mn-ea"/>
              </a:rPr>
              <a:t>년 이후</a:t>
            </a:r>
            <a:r>
              <a:rPr lang="en-US" altLang="ko-KR" sz="1600" dirty="0">
                <a:latin typeface="+mn-ea"/>
                <a:ea typeface="+mn-ea"/>
              </a:rPr>
              <a:t>(2000</a:t>
            </a:r>
            <a:r>
              <a:rPr lang="ko-KR" altLang="en-US" sz="1600" dirty="0">
                <a:latin typeface="+mn-ea"/>
                <a:ea typeface="+mn-ea"/>
              </a:rPr>
              <a:t>년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월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일 포함</a:t>
            </a:r>
            <a:r>
              <a:rPr lang="en-US" altLang="ko-KR" sz="1600" dirty="0">
                <a:latin typeface="+mn-ea"/>
                <a:ea typeface="+mn-ea"/>
              </a:rPr>
              <a:t>) </a:t>
            </a:r>
            <a:r>
              <a:rPr lang="ko-KR" altLang="en-US" sz="1600" dirty="0">
                <a:latin typeface="+mn-ea"/>
                <a:ea typeface="+mn-ea"/>
              </a:rPr>
              <a:t>데이터만 필터링</a:t>
            </a: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df_2000 = </a:t>
            </a:r>
            <a:r>
              <a:rPr lang="en-US" altLang="ko-KR" sz="1600" dirty="0" err="1">
                <a:latin typeface="+mn-ea"/>
                <a:ea typeface="+mn-ea"/>
              </a:rPr>
              <a:t>df_tmp</a:t>
            </a:r>
            <a:r>
              <a:rPr lang="en-US" altLang="ko-KR" sz="1600" dirty="0">
                <a:latin typeface="+mn-ea"/>
                <a:ea typeface="+mn-ea"/>
              </a:rPr>
              <a:t>[</a:t>
            </a:r>
            <a:r>
              <a:rPr lang="en-US" altLang="ko-KR" sz="1600" dirty="0" err="1">
                <a:latin typeface="+mn-ea"/>
                <a:ea typeface="+mn-ea"/>
              </a:rPr>
              <a:t>df_tmp</a:t>
            </a:r>
            <a:r>
              <a:rPr lang="en-US" altLang="ko-KR" sz="1600" dirty="0">
                <a:latin typeface="+mn-ea"/>
                <a:ea typeface="+mn-ea"/>
              </a:rPr>
              <a:t>['</a:t>
            </a:r>
            <a:r>
              <a:rPr lang="ko-KR" altLang="en-US" sz="1600" dirty="0">
                <a:latin typeface="+mn-ea"/>
                <a:ea typeface="+mn-ea"/>
              </a:rPr>
              <a:t>인허가일자</a:t>
            </a:r>
            <a:r>
              <a:rPr lang="en-US" altLang="ko-KR" sz="1600" dirty="0">
                <a:latin typeface="+mn-ea"/>
                <a:ea typeface="+mn-ea"/>
              </a:rPr>
              <a:t>'] &gt;= '2000-01-01'].copy()</a:t>
            </a:r>
          </a:p>
          <a:p>
            <a:pPr marL="1016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 err="1">
                <a:latin typeface="+mn-ea"/>
                <a:ea typeface="+mn-ea"/>
              </a:rPr>
              <a:t>결측치가</a:t>
            </a:r>
            <a:r>
              <a:rPr lang="ko-KR" altLang="en-US" sz="1600" dirty="0">
                <a:latin typeface="+mn-ea"/>
                <a:ea typeface="+mn-ea"/>
              </a:rPr>
              <a:t> 있는 데이터 제거 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소재지면적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지번주소</a:t>
            </a:r>
            <a:r>
              <a:rPr lang="en-US" altLang="ko-KR" sz="1600" dirty="0">
                <a:latin typeface="+mn-ea"/>
                <a:ea typeface="+mn-ea"/>
              </a:rPr>
              <a:t>) </a:t>
            </a:r>
            <a:r>
              <a:rPr lang="ko-KR" altLang="en-US" sz="1600" dirty="0">
                <a:latin typeface="+mn-ea"/>
                <a:ea typeface="+mn-ea"/>
              </a:rPr>
              <a:t>및 데이터 타입 변경</a:t>
            </a: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df_2000.dropna(subset=['</a:t>
            </a:r>
            <a:r>
              <a:rPr lang="ko-KR" altLang="en-US" sz="1600" dirty="0">
                <a:latin typeface="+mn-ea"/>
                <a:ea typeface="+mn-ea"/>
              </a:rPr>
              <a:t>지번주소</a:t>
            </a:r>
            <a:r>
              <a:rPr lang="en-US" altLang="ko-KR" sz="1600" dirty="0">
                <a:latin typeface="+mn-ea"/>
                <a:ea typeface="+mn-ea"/>
              </a:rPr>
              <a:t>'], </a:t>
            </a:r>
            <a:r>
              <a:rPr lang="en-US" altLang="ko-KR" sz="1600" dirty="0" err="1">
                <a:latin typeface="+mn-ea"/>
                <a:ea typeface="+mn-ea"/>
              </a:rPr>
              <a:t>inplace</a:t>
            </a:r>
            <a:r>
              <a:rPr lang="en-US" altLang="ko-KR" sz="1600" dirty="0">
                <a:latin typeface="+mn-ea"/>
                <a:ea typeface="+mn-ea"/>
              </a:rPr>
              <a:t>=True)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데이터 준비 (구현 코드 설명)</a:t>
            </a:r>
            <a:endParaRPr dirty="0"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40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-KR" dirty="0">
                <a:latin typeface="+mn-ea"/>
                <a:ea typeface="+mn-ea"/>
              </a:rPr>
              <a:t>데이터 </a:t>
            </a:r>
            <a:r>
              <a:rPr lang="ko-KR" dirty="0" err="1">
                <a:latin typeface="+mn-ea"/>
                <a:ea typeface="+mn-ea"/>
              </a:rPr>
              <a:t>전처리</a:t>
            </a:r>
            <a:r>
              <a:rPr lang="ko-KR" dirty="0">
                <a:latin typeface="+mn-ea"/>
                <a:ea typeface="+mn-ea"/>
              </a:rPr>
              <a:t> 과정의 주요 부분을 발췌하여 설명. (필요에 따라 페이지 추가)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4" name="Google Shape;91;p4">
            <a:extLst>
              <a:ext uri="{FF2B5EF4-FFF2-40B4-BE49-F238E27FC236}">
                <a16:creationId xmlns:a16="http://schemas.microsoft.com/office/drawing/2014/main" id="{1BCBD3ED-B5B2-49D2-9ED8-49F09621C47E}"/>
              </a:ext>
            </a:extLst>
          </p:cNvPr>
          <p:cNvSpPr txBox="1">
            <a:spLocks/>
          </p:cNvSpPr>
          <p:nvPr/>
        </p:nvSpPr>
        <p:spPr>
          <a:xfrm>
            <a:off x="628997" y="1807530"/>
            <a:ext cx="10848109" cy="384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>
                <a:latin typeface="+mn-ea"/>
                <a:ea typeface="+mn-ea"/>
              </a:rPr>
              <a:t>구와 동을 분류</a:t>
            </a: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df_2000['</a:t>
            </a:r>
            <a:r>
              <a:rPr lang="ko-KR" altLang="en-US" sz="1600" dirty="0">
                <a:latin typeface="+mn-ea"/>
                <a:ea typeface="+mn-ea"/>
              </a:rPr>
              <a:t>구</a:t>
            </a:r>
            <a:r>
              <a:rPr lang="en-US" altLang="ko-KR" sz="1600" dirty="0">
                <a:latin typeface="+mn-ea"/>
                <a:ea typeface="+mn-ea"/>
              </a:rPr>
              <a:t>'] = df_2000['</a:t>
            </a:r>
            <a:r>
              <a:rPr lang="ko-KR" altLang="en-US" sz="1600" dirty="0">
                <a:latin typeface="+mn-ea"/>
                <a:ea typeface="+mn-ea"/>
              </a:rPr>
              <a:t>지번주소</a:t>
            </a:r>
            <a:r>
              <a:rPr lang="en-US" altLang="ko-KR" sz="1600" dirty="0">
                <a:latin typeface="+mn-ea"/>
                <a:ea typeface="+mn-ea"/>
              </a:rPr>
              <a:t>'].</a:t>
            </a:r>
            <a:r>
              <a:rPr lang="en-US" altLang="ko-KR" sz="1600" dirty="0" err="1">
                <a:latin typeface="+mn-ea"/>
                <a:ea typeface="+mn-ea"/>
              </a:rPr>
              <a:t>str.split</a:t>
            </a:r>
            <a:r>
              <a:rPr lang="en-US" altLang="ko-KR" sz="1600" dirty="0">
                <a:latin typeface="+mn-ea"/>
                <a:ea typeface="+mn-ea"/>
              </a:rPr>
              <a:t>().</a:t>
            </a:r>
            <a:r>
              <a:rPr lang="en-US" altLang="ko-KR" sz="1600" dirty="0" err="1">
                <a:latin typeface="+mn-ea"/>
                <a:ea typeface="+mn-ea"/>
              </a:rPr>
              <a:t>str.get</a:t>
            </a:r>
            <a:r>
              <a:rPr lang="en-US" altLang="ko-KR" sz="1600" dirty="0">
                <a:latin typeface="+mn-ea"/>
                <a:ea typeface="+mn-ea"/>
              </a:rPr>
              <a:t>(1)</a:t>
            </a: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df_2000['</a:t>
            </a:r>
            <a:r>
              <a:rPr lang="ko-KR" altLang="en-US" sz="1600" dirty="0">
                <a:latin typeface="+mn-ea"/>
                <a:ea typeface="+mn-ea"/>
              </a:rPr>
              <a:t>동</a:t>
            </a:r>
            <a:r>
              <a:rPr lang="en-US" altLang="ko-KR" sz="1600" dirty="0">
                <a:latin typeface="+mn-ea"/>
                <a:ea typeface="+mn-ea"/>
              </a:rPr>
              <a:t>'] = df_2000['</a:t>
            </a:r>
            <a:r>
              <a:rPr lang="ko-KR" altLang="en-US" sz="1600" dirty="0">
                <a:latin typeface="+mn-ea"/>
                <a:ea typeface="+mn-ea"/>
              </a:rPr>
              <a:t>지번주소</a:t>
            </a:r>
            <a:r>
              <a:rPr lang="en-US" altLang="ko-KR" sz="1600" dirty="0">
                <a:latin typeface="+mn-ea"/>
                <a:ea typeface="+mn-ea"/>
              </a:rPr>
              <a:t>'].</a:t>
            </a:r>
            <a:r>
              <a:rPr lang="en-US" altLang="ko-KR" sz="1600" dirty="0" err="1">
                <a:latin typeface="+mn-ea"/>
                <a:ea typeface="+mn-ea"/>
              </a:rPr>
              <a:t>str.split</a:t>
            </a:r>
            <a:r>
              <a:rPr lang="en-US" altLang="ko-KR" sz="1600" dirty="0">
                <a:latin typeface="+mn-ea"/>
                <a:ea typeface="+mn-ea"/>
              </a:rPr>
              <a:t>().</a:t>
            </a:r>
            <a:r>
              <a:rPr lang="en-US" altLang="ko-KR" sz="1600" dirty="0" err="1">
                <a:latin typeface="+mn-ea"/>
                <a:ea typeface="+mn-ea"/>
              </a:rPr>
              <a:t>str.get</a:t>
            </a:r>
            <a:r>
              <a:rPr lang="en-US" altLang="ko-KR" sz="1600" dirty="0">
                <a:latin typeface="+mn-ea"/>
                <a:ea typeface="+mn-ea"/>
              </a:rPr>
              <a:t>(2)</a:t>
            </a:r>
          </a:p>
          <a:p>
            <a:pPr marL="1016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>
                <a:latin typeface="+mn-ea"/>
                <a:ea typeface="+mn-ea"/>
              </a:rPr>
              <a:t>입력된 </a:t>
            </a:r>
            <a:r>
              <a:rPr lang="en-US" altLang="ko-KR" sz="1600" dirty="0" err="1">
                <a:latin typeface="+mn-ea"/>
                <a:ea typeface="+mn-ea"/>
              </a:rPr>
              <a:t>years_data</a:t>
            </a:r>
            <a:r>
              <a:rPr lang="en-US" altLang="ko-KR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기준으로 데이터 </a:t>
            </a:r>
            <a:r>
              <a:rPr lang="ko-KR" altLang="en-US" sz="1600" dirty="0" err="1">
                <a:latin typeface="+mn-ea"/>
                <a:ea typeface="+mn-ea"/>
              </a:rPr>
              <a:t>재분류</a:t>
            </a:r>
            <a:endParaRPr lang="ko-KR" altLang="en-US" sz="1600" dirty="0">
              <a:latin typeface="+mn-ea"/>
              <a:ea typeface="+mn-ea"/>
            </a:endParaRPr>
          </a:p>
          <a:p>
            <a:pPr marL="101600" indent="0">
              <a:buNone/>
            </a:pPr>
            <a:r>
              <a:rPr lang="en-US" altLang="ko-KR" sz="1600" dirty="0" err="1">
                <a:latin typeface="+mn-ea"/>
                <a:ea typeface="+mn-ea"/>
              </a:rPr>
              <a:t>df_years</a:t>
            </a:r>
            <a:r>
              <a:rPr lang="en-US" altLang="ko-KR" sz="1600" dirty="0">
                <a:latin typeface="+mn-ea"/>
                <a:ea typeface="+mn-ea"/>
              </a:rPr>
              <a:t> = </a:t>
            </a:r>
            <a:r>
              <a:rPr lang="en-US" altLang="ko-KR" sz="1600" dirty="0" err="1">
                <a:latin typeface="+mn-ea"/>
                <a:ea typeface="+mn-ea"/>
              </a:rPr>
              <a:t>df_input</a:t>
            </a:r>
            <a:r>
              <a:rPr lang="en-US" altLang="ko-KR" sz="1600" dirty="0">
                <a:latin typeface="+mn-ea"/>
                <a:ea typeface="+mn-ea"/>
              </a:rPr>
              <a:t>[</a:t>
            </a:r>
            <a:r>
              <a:rPr lang="en-US" altLang="ko-KR" sz="1600" dirty="0" err="1">
                <a:latin typeface="+mn-ea"/>
                <a:ea typeface="+mn-ea"/>
              </a:rPr>
              <a:t>df_input</a:t>
            </a:r>
            <a:r>
              <a:rPr lang="en-US" altLang="ko-KR" sz="1600" dirty="0">
                <a:latin typeface="+mn-ea"/>
                <a:ea typeface="+mn-ea"/>
              </a:rPr>
              <a:t>['</a:t>
            </a:r>
            <a:r>
              <a:rPr lang="ko-KR" altLang="en-US" sz="1600" dirty="0">
                <a:latin typeface="+mn-ea"/>
                <a:ea typeface="+mn-ea"/>
              </a:rPr>
              <a:t>인허가일자</a:t>
            </a:r>
            <a:r>
              <a:rPr lang="en-US" altLang="ko-KR" sz="1600" dirty="0">
                <a:latin typeface="+mn-ea"/>
                <a:ea typeface="+mn-ea"/>
              </a:rPr>
              <a:t>'] + </a:t>
            </a:r>
            <a:r>
              <a:rPr lang="en-US" altLang="ko-KR" sz="1600" dirty="0" err="1">
                <a:latin typeface="+mn-ea"/>
                <a:ea typeface="+mn-ea"/>
              </a:rPr>
              <a:t>pd.DateOffset</a:t>
            </a:r>
            <a:r>
              <a:rPr lang="en-US" altLang="ko-KR" sz="1600" dirty="0">
                <a:latin typeface="+mn-ea"/>
                <a:ea typeface="+mn-ea"/>
              </a:rPr>
              <a:t>(years=</a:t>
            </a:r>
            <a:r>
              <a:rPr lang="en-US" altLang="ko-KR" sz="1600" dirty="0" err="1">
                <a:latin typeface="+mn-ea"/>
                <a:ea typeface="+mn-ea"/>
              </a:rPr>
              <a:t>years_data</a:t>
            </a:r>
            <a:r>
              <a:rPr lang="en-US" altLang="ko-KR" sz="1600" dirty="0">
                <a:latin typeface="+mn-ea"/>
                <a:ea typeface="+mn-ea"/>
              </a:rPr>
              <a:t>) &lt;= </a:t>
            </a:r>
            <a:r>
              <a:rPr lang="en-US" altLang="ko-KR" sz="1600" dirty="0" err="1">
                <a:latin typeface="+mn-ea"/>
                <a:ea typeface="+mn-ea"/>
              </a:rPr>
              <a:t>df_input</a:t>
            </a:r>
            <a:r>
              <a:rPr lang="en-US" altLang="ko-KR" sz="1600" dirty="0">
                <a:latin typeface="+mn-ea"/>
                <a:ea typeface="+mn-ea"/>
              </a:rPr>
              <a:t>['</a:t>
            </a:r>
            <a:r>
              <a:rPr lang="ko-KR" altLang="en-US" sz="1600" dirty="0">
                <a:latin typeface="+mn-ea"/>
                <a:ea typeface="+mn-ea"/>
              </a:rPr>
              <a:t>최종수정시점</a:t>
            </a:r>
            <a:r>
              <a:rPr lang="en-US" altLang="ko-KR" sz="1600" dirty="0">
                <a:latin typeface="+mn-ea"/>
                <a:ea typeface="+mn-ea"/>
              </a:rPr>
              <a:t>']].copy()</a:t>
            </a:r>
          </a:p>
          <a:p>
            <a:pPr marL="1016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01600" indent="0">
              <a:buNone/>
            </a:pPr>
            <a:r>
              <a:rPr lang="en-US" altLang="ko-KR" sz="1600" dirty="0">
                <a:latin typeface="+mn-ea"/>
                <a:ea typeface="+mn-ea"/>
              </a:rPr>
              <a:t># </a:t>
            </a:r>
            <a:r>
              <a:rPr lang="ko-KR" altLang="en-US" sz="1600" dirty="0">
                <a:latin typeface="+mn-ea"/>
                <a:ea typeface="+mn-ea"/>
              </a:rPr>
              <a:t>영업상태명이 폐업이면 </a:t>
            </a:r>
            <a:r>
              <a:rPr lang="en-US" altLang="ko-KR" sz="1600" dirty="0">
                <a:latin typeface="+mn-ea"/>
                <a:ea typeface="+mn-ea"/>
              </a:rPr>
              <a:t>0, </a:t>
            </a:r>
            <a:r>
              <a:rPr lang="ko-KR" altLang="en-US" sz="1600" dirty="0">
                <a:latin typeface="+mn-ea"/>
                <a:ea typeface="+mn-ea"/>
              </a:rPr>
              <a:t>영업은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 dirty="0">
                <a:latin typeface="+mn-ea"/>
                <a:ea typeface="+mn-ea"/>
              </a:rPr>
              <a:t>로 </a:t>
            </a:r>
            <a:r>
              <a:rPr lang="en-US" altLang="ko-KR" sz="1600" dirty="0" err="1">
                <a:latin typeface="+mn-ea"/>
                <a:ea typeface="+mn-ea"/>
              </a:rPr>
              <a:t>lable</a:t>
            </a:r>
            <a:r>
              <a:rPr lang="en-US" altLang="ko-KR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구성</a:t>
            </a:r>
          </a:p>
          <a:p>
            <a:pPr marL="101600" indent="0">
              <a:buNone/>
            </a:pPr>
            <a:r>
              <a:rPr lang="en-US" altLang="ko-KR" sz="1600" dirty="0" err="1">
                <a:latin typeface="+mn-ea"/>
                <a:ea typeface="+mn-ea"/>
              </a:rPr>
              <a:t>df_years</a:t>
            </a:r>
            <a:r>
              <a:rPr lang="en-US" altLang="ko-KR" sz="1600" dirty="0">
                <a:latin typeface="+mn-ea"/>
                <a:ea typeface="+mn-ea"/>
              </a:rPr>
              <a:t>['label'] = (</a:t>
            </a:r>
            <a:r>
              <a:rPr lang="en-US" altLang="ko-KR" sz="1600" dirty="0" err="1">
                <a:latin typeface="+mn-ea"/>
                <a:ea typeface="+mn-ea"/>
              </a:rPr>
              <a:t>df_years</a:t>
            </a:r>
            <a:r>
              <a:rPr lang="en-US" altLang="ko-KR" sz="1600" dirty="0">
                <a:latin typeface="+mn-ea"/>
                <a:ea typeface="+mn-ea"/>
              </a:rPr>
              <a:t>['</a:t>
            </a:r>
            <a:r>
              <a:rPr lang="ko-KR" altLang="en-US" sz="1600" dirty="0">
                <a:latin typeface="+mn-ea"/>
                <a:ea typeface="+mn-ea"/>
              </a:rPr>
              <a:t>영업상태명</a:t>
            </a:r>
            <a:r>
              <a:rPr lang="en-US" altLang="ko-KR" sz="1600" dirty="0">
                <a:latin typeface="+mn-ea"/>
                <a:ea typeface="+mn-ea"/>
              </a:rPr>
              <a:t>'] != '</a:t>
            </a:r>
            <a:r>
              <a:rPr lang="ko-KR" altLang="en-US" sz="1600" dirty="0">
                <a:latin typeface="+mn-ea"/>
                <a:ea typeface="+mn-ea"/>
              </a:rPr>
              <a:t>폐업</a:t>
            </a:r>
            <a:r>
              <a:rPr lang="en-US" altLang="ko-KR" sz="1600" dirty="0">
                <a:latin typeface="+mn-ea"/>
                <a:ea typeface="+mn-ea"/>
              </a:rPr>
              <a:t>').</a:t>
            </a:r>
            <a:r>
              <a:rPr lang="en-US" altLang="ko-KR" sz="1600" dirty="0" err="1">
                <a:latin typeface="+mn-ea"/>
                <a:ea typeface="+mn-ea"/>
              </a:rPr>
              <a:t>astype</a:t>
            </a:r>
            <a:r>
              <a:rPr lang="en-US" altLang="ko-KR" sz="1600" dirty="0">
                <a:latin typeface="+mn-ea"/>
                <a:ea typeface="+mn-ea"/>
              </a:rPr>
              <a:t>(int)</a:t>
            </a:r>
          </a:p>
          <a:p>
            <a:pPr marL="101600" indent="0">
              <a:buNone/>
            </a:pPr>
            <a:endParaRPr lang="en-US" altLang="ko-KR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012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4F4D6-00B8-4DEF-BD02-7D859BEB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데이터 준비 (구현 코드 설명)</a:t>
            </a:r>
            <a:r>
              <a:rPr lang="en-US" altLang="ko-KR" dirty="0"/>
              <a:t> - </a:t>
            </a:r>
            <a:r>
              <a:rPr lang="en-US" altLang="ko-KR" sz="2400" dirty="0"/>
              <a:t>Feature Importance </a:t>
            </a:r>
            <a:r>
              <a:rPr lang="ko-KR" altLang="en-US" sz="2400" dirty="0"/>
              <a:t>기반 </a:t>
            </a:r>
            <a:r>
              <a:rPr lang="en-US" altLang="ko-KR" sz="2400" dirty="0"/>
              <a:t>Feature </a:t>
            </a:r>
            <a:r>
              <a:rPr lang="ko-KR" altLang="en-US" sz="2400" dirty="0"/>
              <a:t>선정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1B50CB-109C-4C9B-8AF9-39C1F5A67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997" y="1331649"/>
            <a:ext cx="10848109" cy="5261655"/>
          </a:xfrm>
        </p:spPr>
        <p:txBody>
          <a:bodyPr>
            <a:normAutofit/>
          </a:bodyPr>
          <a:lstStyle/>
          <a:p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ko-KR" sz="16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600" dirty="0">
                <a:latin typeface="+mn-ea"/>
                <a:ea typeface="+mn-ea"/>
              </a:rPr>
              <a:t>9</a:t>
            </a:r>
            <a:r>
              <a:rPr lang="ko-KR" altLang="en-US" sz="1600" dirty="0">
                <a:latin typeface="+mn-ea"/>
                <a:ea typeface="+mn-ea"/>
              </a:rPr>
              <a:t>개 컬럼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동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소재지면적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업태구분명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 err="1">
                <a:latin typeface="+mn-ea"/>
                <a:ea typeface="+mn-ea"/>
              </a:rPr>
              <a:t>동종업체수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 err="1">
                <a:latin typeface="+mn-ea"/>
                <a:ea typeface="+mn-ea"/>
              </a:rPr>
              <a:t>면적당종사자수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구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총종사자수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여성종사자수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남성종사자수</a:t>
            </a:r>
            <a:endParaRPr lang="en-US" altLang="ko-KR" sz="1600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위 </a:t>
            </a:r>
            <a:r>
              <a:rPr lang="en-US" altLang="ko-KR" sz="1600" dirty="0">
                <a:latin typeface="+mn-ea"/>
                <a:ea typeface="+mn-ea"/>
              </a:rPr>
              <a:t>9</a:t>
            </a:r>
            <a:r>
              <a:rPr lang="ko-KR" altLang="en-US" sz="1600" dirty="0">
                <a:latin typeface="+mn-ea"/>
                <a:ea typeface="+mn-ea"/>
              </a:rPr>
              <a:t>개 컬럼 순서대로 </a:t>
            </a:r>
            <a:r>
              <a:rPr lang="en-US" altLang="ko-KR" sz="1600" dirty="0">
                <a:latin typeface="+mn-ea"/>
                <a:ea typeface="+mn-ea"/>
              </a:rPr>
              <a:t>5</a:t>
            </a:r>
            <a:r>
              <a:rPr lang="ko-KR" altLang="en-US" sz="1600" dirty="0">
                <a:latin typeface="+mn-ea"/>
                <a:ea typeface="+mn-ea"/>
              </a:rPr>
              <a:t>개부터 </a:t>
            </a:r>
            <a:r>
              <a:rPr lang="en-US" altLang="ko-KR" sz="1600" dirty="0">
                <a:latin typeface="+mn-ea"/>
                <a:ea typeface="+mn-ea"/>
              </a:rPr>
              <a:t>9</a:t>
            </a:r>
            <a:r>
              <a:rPr lang="ko-KR" altLang="en-US" sz="1600" dirty="0">
                <a:latin typeface="+mn-ea"/>
                <a:ea typeface="+mn-ea"/>
              </a:rPr>
              <a:t>개까지 </a:t>
            </a:r>
            <a:r>
              <a:rPr lang="en-US" altLang="ko-KR" sz="1600" dirty="0">
                <a:latin typeface="+mn-ea"/>
                <a:ea typeface="+mn-ea"/>
              </a:rPr>
              <a:t>Feature </a:t>
            </a:r>
            <a:r>
              <a:rPr lang="ko-KR" altLang="en-US" sz="1600" dirty="0">
                <a:latin typeface="+mn-ea"/>
                <a:ea typeface="+mn-ea"/>
              </a:rPr>
              <a:t>개수를 단계적으로 증가시키며 각 모델의 성능을 비교 함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r>
              <a:rPr lang="ko-KR" altLang="en-US" sz="1600" dirty="0">
                <a:latin typeface="+mn-ea"/>
                <a:ea typeface="+mn-ea"/>
              </a:rPr>
              <a:t>각 </a:t>
            </a:r>
            <a:r>
              <a:rPr lang="en-US" altLang="ko-KR" sz="1600" dirty="0">
                <a:latin typeface="+mn-ea"/>
                <a:ea typeface="+mn-ea"/>
              </a:rPr>
              <a:t>Feature </a:t>
            </a:r>
            <a:r>
              <a:rPr lang="ko-KR" altLang="en-US" sz="1600" dirty="0">
                <a:latin typeface="+mn-ea"/>
                <a:ea typeface="+mn-ea"/>
              </a:rPr>
              <a:t>조합을 임의로 구성한 것이 아니라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순서에 따라 누적하여 </a:t>
            </a:r>
            <a:r>
              <a:rPr lang="en-US" altLang="ko-KR" sz="1600" dirty="0">
                <a:latin typeface="+mn-ea"/>
                <a:ea typeface="+mn-ea"/>
              </a:rPr>
              <a:t>Feature</a:t>
            </a:r>
            <a:r>
              <a:rPr lang="ko-KR" altLang="en-US" sz="1600" dirty="0">
                <a:latin typeface="+mn-ea"/>
                <a:ea typeface="+mn-ea"/>
              </a:rPr>
              <a:t>를 추가하는 방식으로 진행 함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1F0393-EBF7-489A-8AC1-F91299156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94" y="1791762"/>
            <a:ext cx="3250258" cy="21777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5A90DE1-2887-482D-ABC7-42A42A613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61" y="1764111"/>
            <a:ext cx="3396223" cy="22330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2F726E-760B-45C9-8898-64B2D222C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512" y="1791762"/>
            <a:ext cx="3337589" cy="2191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395B7-4C8A-43D7-973A-E96FAA717D35}"/>
              </a:ext>
            </a:extLst>
          </p:cNvPr>
          <p:cNvSpPr txBox="1"/>
          <p:nvPr/>
        </p:nvSpPr>
        <p:spPr>
          <a:xfrm>
            <a:off x="863906" y="1384282"/>
            <a:ext cx="2889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1</a:t>
            </a:r>
            <a:r>
              <a:rPr lang="ko-KR" altLang="en-US" b="1" dirty="0">
                <a:latin typeface="+mn-ea"/>
                <a:ea typeface="+mn-ea"/>
              </a:rPr>
              <a:t>년 이내 </a:t>
            </a:r>
            <a:r>
              <a:rPr lang="en-US" altLang="ko-KR" b="1" dirty="0">
                <a:latin typeface="+mn-ea"/>
                <a:ea typeface="+mn-ea"/>
              </a:rPr>
              <a:t>– Feature</a:t>
            </a:r>
            <a:r>
              <a:rPr lang="ko-KR" altLang="en-US" b="1" dirty="0">
                <a:latin typeface="+mn-ea"/>
                <a:ea typeface="+mn-ea"/>
              </a:rPr>
              <a:t>　</a:t>
            </a:r>
            <a:r>
              <a:rPr lang="en-US" altLang="ko-KR" b="1" dirty="0">
                <a:latin typeface="+mn-ea"/>
                <a:ea typeface="+mn-ea"/>
              </a:rPr>
              <a:t>Importance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E45CF-1003-454A-A445-9B9873A46A61}"/>
              </a:ext>
            </a:extLst>
          </p:cNvPr>
          <p:cNvSpPr txBox="1"/>
          <p:nvPr/>
        </p:nvSpPr>
        <p:spPr>
          <a:xfrm>
            <a:off x="4483946" y="1407816"/>
            <a:ext cx="3054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3</a:t>
            </a:r>
            <a:r>
              <a:rPr lang="ko-KR" altLang="en-US" b="1" dirty="0">
                <a:latin typeface="+mn-ea"/>
                <a:ea typeface="+mn-ea"/>
              </a:rPr>
              <a:t>년 이내－</a:t>
            </a:r>
            <a:r>
              <a:rPr lang="en-US" altLang="ko-KR" b="1" dirty="0">
                <a:latin typeface="+mn-ea"/>
                <a:ea typeface="+mn-ea"/>
              </a:rPr>
              <a:t> Feature</a:t>
            </a:r>
            <a:r>
              <a:rPr lang="ko-KR" altLang="en-US" b="1" dirty="0">
                <a:latin typeface="+mn-ea"/>
                <a:ea typeface="+mn-ea"/>
              </a:rPr>
              <a:t>　</a:t>
            </a:r>
            <a:r>
              <a:rPr lang="en-US" altLang="ko-KR" b="1" dirty="0">
                <a:latin typeface="+mn-ea"/>
                <a:ea typeface="+mn-ea"/>
              </a:rPr>
              <a:t>Importance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B2BCB-E031-4C30-B813-02C435D8F024}"/>
              </a:ext>
            </a:extLst>
          </p:cNvPr>
          <p:cNvSpPr txBox="1"/>
          <p:nvPr/>
        </p:nvSpPr>
        <p:spPr>
          <a:xfrm>
            <a:off x="8046720" y="1384283"/>
            <a:ext cx="3281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5</a:t>
            </a:r>
            <a:r>
              <a:rPr lang="ko-KR" altLang="en-US" b="1" dirty="0">
                <a:latin typeface="+mn-ea"/>
                <a:ea typeface="+mn-ea"/>
              </a:rPr>
              <a:t>년 이내－</a:t>
            </a:r>
            <a:r>
              <a:rPr lang="en-US" altLang="ko-KR" b="1" dirty="0">
                <a:latin typeface="+mn-ea"/>
                <a:ea typeface="+mn-ea"/>
              </a:rPr>
              <a:t> Feature</a:t>
            </a:r>
            <a:r>
              <a:rPr lang="ko-KR" altLang="en-US" b="1" dirty="0">
                <a:latin typeface="+mn-ea"/>
                <a:ea typeface="+mn-ea"/>
              </a:rPr>
              <a:t>　</a:t>
            </a:r>
            <a:r>
              <a:rPr lang="en-US" altLang="ko-KR" b="1" dirty="0">
                <a:latin typeface="+mn-ea"/>
                <a:ea typeface="+mn-ea"/>
              </a:rPr>
              <a:t>Importance</a:t>
            </a:r>
            <a:endParaRPr lang="ko-KR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6821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2A6BB-165C-460B-AB83-871958D7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모델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805A02-CBC2-42D3-B13E-443B81974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996" y="1165579"/>
            <a:ext cx="10848109" cy="4647584"/>
          </a:xfrm>
        </p:spPr>
        <p:txBody>
          <a:bodyPr/>
          <a:lstStyle/>
          <a:p>
            <a:pPr marL="182880" lvl="0" indent="-182880">
              <a:spcBef>
                <a:spcPts val="0"/>
              </a:spcBef>
            </a:pPr>
            <a:r>
              <a:rPr lang="ko-KR" altLang="en-US" dirty="0">
                <a:latin typeface="+mn-ea"/>
                <a:ea typeface="+mn-ea"/>
              </a:rPr>
              <a:t>모델 후보 </a:t>
            </a:r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ko-KR" altLang="en-US" dirty="0">
                <a:latin typeface="+mn-ea"/>
                <a:ea typeface="+mn-ea"/>
              </a:rPr>
              <a:t>가지 선정 </a:t>
            </a:r>
          </a:p>
          <a:p>
            <a:pPr marL="182880" lvl="0" indent="-182880"/>
            <a:r>
              <a:rPr lang="ko-KR" altLang="en-US" dirty="0">
                <a:latin typeface="+mn-ea"/>
                <a:ea typeface="+mn-ea"/>
              </a:rPr>
              <a:t>모델 평가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F1E2C8-A3C3-4861-85A5-B32D1E715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97" y="2147339"/>
            <a:ext cx="3911801" cy="17971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676423-4F24-4100-8B61-C0A5B47A5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93" y="3944481"/>
            <a:ext cx="4769095" cy="27242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43B87D-7D79-486D-85AE-08BAFE52E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99" y="4872277"/>
            <a:ext cx="3302170" cy="1587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BB297C-0314-4823-B8FE-6B207AC10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82" y="1649806"/>
            <a:ext cx="5765244" cy="2925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461707-3451-4297-B6A4-F77DE876F7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82" y="5059771"/>
            <a:ext cx="5757650" cy="112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0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학습 모델</a:t>
            </a:r>
            <a:r>
              <a:rPr lang="en-US" altLang="ko-KR" dirty="0"/>
              <a:t> </a:t>
            </a:r>
            <a:endParaRPr dirty="0"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628998" y="1105207"/>
            <a:ext cx="6862310" cy="554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dirty="0">
                <a:latin typeface="+mn-ea"/>
                <a:ea typeface="+mn-ea"/>
              </a:rPr>
              <a:t>평가 결과와 최종 모델 선택 기준</a:t>
            </a:r>
            <a:endParaRPr dirty="0">
              <a:latin typeface="+mn-ea"/>
              <a:ea typeface="+mn-ea"/>
            </a:endParaRPr>
          </a:p>
          <a:p>
            <a:pPr marL="127000" indent="0">
              <a:buNone/>
            </a:pPr>
            <a:r>
              <a:rPr lang="en-US" altLang="ko-KR" b="1" dirty="0">
                <a:latin typeface="+mn-ea"/>
                <a:ea typeface="+mn-ea"/>
              </a:rPr>
              <a:t> </a:t>
            </a:r>
            <a:r>
              <a:rPr lang="en-US" altLang="ko-KR" b="1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latin typeface="+mn-ea"/>
                <a:ea typeface="+mn-ea"/>
              </a:rPr>
              <a:t>Random Forest</a:t>
            </a:r>
            <a:r>
              <a:rPr lang="ko-KR" altLang="en-US" b="1" dirty="0">
                <a:latin typeface="+mn-ea"/>
                <a:ea typeface="+mn-ea"/>
              </a:rPr>
              <a:t>를 사용하였습니다</a:t>
            </a:r>
            <a:r>
              <a:rPr lang="en-US" altLang="ko-KR" b="1" dirty="0">
                <a:latin typeface="+mn-ea"/>
                <a:ea typeface="+mn-ea"/>
              </a:rPr>
              <a:t>.</a:t>
            </a:r>
          </a:p>
          <a:p>
            <a:pPr marL="182880" lvl="0" indent="-55880">
              <a:buNone/>
            </a:pPr>
            <a:r>
              <a:rPr lang="en-US" altLang="ko-KR" sz="1600" dirty="0">
                <a:latin typeface="+mn-ea"/>
                <a:ea typeface="+mn-ea"/>
              </a:rPr>
              <a:t>&lt;</a:t>
            </a:r>
            <a:r>
              <a:rPr lang="ko-KR" altLang="en-US" sz="1600" dirty="0">
                <a:latin typeface="+mn-ea"/>
                <a:ea typeface="+mn-ea"/>
              </a:rPr>
              <a:t>이유</a:t>
            </a:r>
            <a:r>
              <a:rPr lang="en-US" altLang="ko-KR" sz="1600" dirty="0">
                <a:latin typeface="+mn-ea"/>
                <a:ea typeface="+mn-ea"/>
              </a:rPr>
              <a:t>&gt;</a:t>
            </a:r>
          </a:p>
          <a:p>
            <a:pPr marL="584200" lvl="0" indent="-457200">
              <a:buFont typeface="+mj-lt"/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F1-score</a:t>
            </a:r>
            <a:r>
              <a:rPr lang="ko-KR" altLang="en-US" sz="1600" dirty="0">
                <a:latin typeface="+mn-ea"/>
                <a:ea typeface="+mn-ea"/>
              </a:rPr>
              <a:t>는 정밀도</a:t>
            </a:r>
            <a:r>
              <a:rPr lang="en-US" altLang="ko-KR" sz="1600" dirty="0">
                <a:latin typeface="+mn-ea"/>
                <a:ea typeface="+mn-ea"/>
              </a:rPr>
              <a:t>(precision)</a:t>
            </a:r>
            <a:r>
              <a:rPr lang="ko-KR" altLang="en-US" sz="1600" dirty="0">
                <a:latin typeface="+mn-ea"/>
                <a:ea typeface="+mn-ea"/>
              </a:rPr>
              <a:t>와 </a:t>
            </a:r>
            <a:r>
              <a:rPr lang="ko-KR" altLang="en-US" sz="1600" dirty="0" err="1">
                <a:latin typeface="+mn-ea"/>
                <a:ea typeface="+mn-ea"/>
              </a:rPr>
              <a:t>재현율</a:t>
            </a:r>
            <a:r>
              <a:rPr lang="en-US" altLang="ko-KR" sz="1600" dirty="0">
                <a:latin typeface="+mn-ea"/>
                <a:ea typeface="+mn-ea"/>
              </a:rPr>
              <a:t>(recall)</a:t>
            </a:r>
            <a:r>
              <a:rPr lang="ko-KR" altLang="en-US" sz="1600" dirty="0">
                <a:latin typeface="+mn-ea"/>
                <a:ea typeface="+mn-ea"/>
              </a:rPr>
              <a:t>을 함께 반영하므로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클래스 불균형 데이터에서 </a:t>
            </a:r>
            <a:r>
              <a:rPr lang="en-US" altLang="ko-KR" sz="1600" dirty="0">
                <a:latin typeface="+mn-ea"/>
                <a:ea typeface="+mn-ea"/>
              </a:rPr>
              <a:t>Accuracy</a:t>
            </a:r>
            <a:r>
              <a:rPr lang="ko-KR" altLang="en-US" sz="1600" dirty="0">
                <a:latin typeface="+mn-ea"/>
                <a:ea typeface="+mn-ea"/>
              </a:rPr>
              <a:t>보다 더 믿을 만한 지표인 경우가 많기 때문</a:t>
            </a:r>
          </a:p>
          <a:p>
            <a:pPr marL="584200" lvl="0" indent="-457200">
              <a:buFont typeface="+mj-lt"/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Random Forest</a:t>
            </a:r>
            <a:r>
              <a:rPr lang="ko-KR" altLang="en-US" sz="1600" dirty="0">
                <a:latin typeface="+mn-ea"/>
                <a:ea typeface="+mn-ea"/>
              </a:rPr>
              <a:t>는 세 모델 중 </a:t>
            </a:r>
            <a:r>
              <a:rPr lang="en-US" altLang="ko-KR" sz="1600" dirty="0">
                <a:latin typeface="+mn-ea"/>
                <a:ea typeface="+mn-ea"/>
              </a:rPr>
              <a:t>F1-score</a:t>
            </a:r>
            <a:r>
              <a:rPr lang="ko-KR" altLang="en-US" sz="1600" dirty="0">
                <a:latin typeface="+mn-ea"/>
                <a:ea typeface="+mn-ea"/>
              </a:rPr>
              <a:t>가 가장 높아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두 클래스를 비교적 </a:t>
            </a:r>
            <a:r>
              <a:rPr lang="ko-KR" altLang="en-US" sz="1600" dirty="0" err="1">
                <a:latin typeface="+mn-ea"/>
                <a:ea typeface="+mn-ea"/>
              </a:rPr>
              <a:t>균형있게</a:t>
            </a:r>
            <a:r>
              <a:rPr lang="ko-KR" altLang="en-US" sz="1600" dirty="0">
                <a:latin typeface="+mn-ea"/>
                <a:ea typeface="+mn-ea"/>
              </a:rPr>
              <a:t> 구분했다고 볼 수 있음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pPr marL="584200" lvl="0" indent="-457200">
              <a:buFont typeface="+mj-lt"/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 Logistic Regression</a:t>
            </a:r>
            <a:r>
              <a:rPr lang="ko-KR" altLang="en-US" sz="1600" dirty="0">
                <a:latin typeface="+mn-ea"/>
                <a:ea typeface="+mn-ea"/>
              </a:rPr>
              <a:t>도 </a:t>
            </a:r>
            <a:r>
              <a:rPr lang="en-US" altLang="ko-KR" sz="1600" dirty="0">
                <a:latin typeface="+mn-ea"/>
                <a:ea typeface="+mn-ea"/>
              </a:rPr>
              <a:t>F1-score</a:t>
            </a:r>
            <a:r>
              <a:rPr lang="ko-KR" altLang="en-US" sz="1600" dirty="0">
                <a:latin typeface="+mn-ea"/>
                <a:ea typeface="+mn-ea"/>
              </a:rPr>
              <a:t>가 비슷하지만</a:t>
            </a:r>
            <a:r>
              <a:rPr lang="en-US" altLang="ko-KR" sz="1600" dirty="0">
                <a:latin typeface="+mn-ea"/>
                <a:ea typeface="+mn-ea"/>
              </a:rPr>
              <a:t>, Random Forest</a:t>
            </a:r>
            <a:r>
              <a:rPr lang="ko-KR" altLang="en-US" sz="1600" dirty="0">
                <a:latin typeface="+mn-ea"/>
                <a:ea typeface="+mn-ea"/>
              </a:rPr>
              <a:t>보다 낮음</a:t>
            </a:r>
            <a:endParaRPr lang="en-US" altLang="ko-KR" sz="1600" dirty="0">
              <a:latin typeface="+mn-ea"/>
              <a:ea typeface="+mn-ea"/>
            </a:endParaRPr>
          </a:p>
          <a:p>
            <a:pPr marL="584200" lvl="0" indent="-457200">
              <a:buFont typeface="+mj-lt"/>
              <a:buAutoNum type="arabicPeriod"/>
            </a:pPr>
            <a:r>
              <a:rPr lang="en-US" altLang="ko-KR" sz="1600" dirty="0">
                <a:latin typeface="+mn-ea"/>
                <a:ea typeface="+mn-ea"/>
              </a:rPr>
              <a:t>Gradient Boosting</a:t>
            </a:r>
            <a:r>
              <a:rPr lang="ko-KR" altLang="en-US" sz="1600" dirty="0">
                <a:latin typeface="+mn-ea"/>
                <a:ea typeface="+mn-ea"/>
              </a:rPr>
              <a:t>은 정확도 </a:t>
            </a:r>
            <a:r>
              <a:rPr lang="en-US" altLang="ko-KR" sz="1600" dirty="0">
                <a:latin typeface="+mn-ea"/>
                <a:ea typeface="+mn-ea"/>
              </a:rPr>
              <a:t>0.6676</a:t>
            </a:r>
            <a:r>
              <a:rPr lang="ko-KR" altLang="en-US" sz="1600" dirty="0">
                <a:latin typeface="+mn-ea"/>
                <a:ea typeface="+mn-ea"/>
              </a:rPr>
              <a:t>으로 가장 높지만</a:t>
            </a:r>
            <a:r>
              <a:rPr lang="en-US" altLang="ko-KR" sz="1600" dirty="0">
                <a:latin typeface="+mn-ea"/>
                <a:ea typeface="+mn-ea"/>
              </a:rPr>
              <a:t>, F1-score</a:t>
            </a:r>
            <a:r>
              <a:rPr lang="ko-KR" altLang="en-US" sz="1600" dirty="0">
                <a:latin typeface="+mn-ea"/>
                <a:ea typeface="+mn-ea"/>
              </a:rPr>
              <a:t>가 </a:t>
            </a:r>
            <a:r>
              <a:rPr lang="en-US" altLang="ko-KR" sz="1600" dirty="0">
                <a:latin typeface="+mn-ea"/>
                <a:ea typeface="+mn-ea"/>
              </a:rPr>
              <a:t>0.0658</a:t>
            </a:r>
            <a:r>
              <a:rPr lang="ko-KR" altLang="en-US" sz="1600" dirty="0">
                <a:latin typeface="+mn-ea"/>
                <a:ea typeface="+mn-ea"/>
              </a:rPr>
              <a:t>로 매우 낮습니다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즉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데이터의 특정 클래스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보통 소수 클래스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를 거의 찾아내지 못하고 다수 클래스 위주로 예측했을 가능성이 큼</a:t>
            </a:r>
            <a:endParaRPr sz="1600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7E69B-B6D7-4E8E-A47D-D3F56D4B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834" y="2912337"/>
            <a:ext cx="4615912" cy="1792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ko-KR" altLang="ko-KR" dirty="0"/>
              <a:t>학습 모델 </a:t>
            </a:r>
            <a:r>
              <a:rPr lang="en-US" altLang="ko-KR" dirty="0"/>
              <a:t>– 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 err="1"/>
              <a:t>랜덤포레스트</a:t>
            </a:r>
            <a:r>
              <a:rPr lang="ko-KR" altLang="en-US" dirty="0"/>
              <a:t> 학습 모델 저장</a:t>
            </a:r>
            <a:endParaRPr dirty="0"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4647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altLang="ko-K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CA7FA3-19F5-4E98-8D20-9064186E1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61" y="1301795"/>
            <a:ext cx="4921503" cy="30545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6A5D8E-43C3-477E-8935-DD6B81435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364" y="1301795"/>
            <a:ext cx="2940201" cy="32386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DC283A6-C48D-4767-B9C3-4074B9653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559" y="4392810"/>
            <a:ext cx="4540483" cy="2400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828C19-F5C5-41FB-A702-72DC52681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364" y="4697632"/>
            <a:ext cx="4597636" cy="11494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692CFC-233E-40F3-B40C-A175FC3DE583}"/>
              </a:ext>
            </a:extLst>
          </p:cNvPr>
          <p:cNvSpPr txBox="1"/>
          <p:nvPr/>
        </p:nvSpPr>
        <p:spPr>
          <a:xfrm>
            <a:off x="77333" y="1862805"/>
            <a:ext cx="25955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학습이 완료된 </a:t>
            </a:r>
            <a:r>
              <a:rPr lang="en-US" altLang="ko-KR" dirty="0">
                <a:latin typeface="+mj-ea"/>
                <a:ea typeface="+mj-ea"/>
              </a:rPr>
              <a:t>Random Forest </a:t>
            </a:r>
            <a:r>
              <a:rPr lang="ko-KR" altLang="en-US" dirty="0">
                <a:latin typeface="+mj-ea"/>
                <a:ea typeface="+mj-ea"/>
              </a:rPr>
              <a:t>모델을 </a:t>
            </a:r>
            <a:r>
              <a:rPr lang="en-US" altLang="ko-KR" dirty="0" err="1">
                <a:latin typeface="+mj-ea"/>
                <a:ea typeface="+mj-ea"/>
              </a:rPr>
              <a:t>pkl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파일로 저장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저장된 모델을 이후 </a:t>
            </a:r>
            <a:r>
              <a:rPr lang="en-US" altLang="ko-KR" dirty="0" err="1">
                <a:latin typeface="+mj-ea"/>
                <a:ea typeface="+mj-ea"/>
              </a:rPr>
              <a:t>FastAPI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백엔드에서</a:t>
            </a:r>
            <a:r>
              <a:rPr lang="ko-KR" altLang="en-US" dirty="0">
                <a:latin typeface="+mj-ea"/>
                <a:ea typeface="+mj-ea"/>
              </a:rPr>
              <a:t> 불러와 예측에 사용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매번 모델을 다시 학습하지 않고 저장된 모델을 이용하여 서비스에서 실시간 예측 가능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학습 모델을 이용한 추론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75577B-70ED-46DB-8173-1A278D465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97" y="1493708"/>
            <a:ext cx="3740342" cy="1676486"/>
          </a:xfrm>
          <a:prstGeom prst="rect">
            <a:avLst/>
          </a:prstGeom>
        </p:spPr>
      </p:pic>
      <p:sp>
        <p:nvSpPr>
          <p:cNvPr id="115" name="Google Shape;115;p8"/>
          <p:cNvSpPr txBox="1">
            <a:spLocks noGrp="1"/>
          </p:cNvSpPr>
          <p:nvPr>
            <p:ph type="body" idx="1"/>
          </p:nvPr>
        </p:nvSpPr>
        <p:spPr>
          <a:xfrm>
            <a:off x="628997" y="1680578"/>
            <a:ext cx="10848109" cy="4647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5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lang="en-US" altLang="ko-KR" dirty="0"/>
          </a:p>
          <a:p>
            <a:pPr marL="182880" lvl="0" indent="-55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lang="en-US" altLang="ko-KR" dirty="0"/>
          </a:p>
          <a:p>
            <a:pPr marL="182880" lvl="0" indent="-55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lang="en-US" altLang="ko-KR" dirty="0"/>
          </a:p>
          <a:p>
            <a:pPr marL="182880" lvl="0" indent="-55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lang="en-US" altLang="ko-KR" dirty="0"/>
          </a:p>
          <a:p>
            <a:pPr marL="182880" lvl="0" indent="-55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A36DB9-ECFF-4E3F-A8AC-7E6E7D142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97" y="3170195"/>
            <a:ext cx="4310663" cy="36878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292EE7-8431-4E1B-8CE1-A537A49E4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505" y="1493708"/>
            <a:ext cx="4635738" cy="4121362"/>
          </a:xfrm>
          <a:prstGeom prst="rect">
            <a:avLst/>
          </a:prstGeom>
        </p:spPr>
      </p:pic>
      <p:sp>
        <p:nvSpPr>
          <p:cNvPr id="7" name="Google Shape;109;p7">
            <a:extLst>
              <a:ext uri="{FF2B5EF4-FFF2-40B4-BE49-F238E27FC236}">
                <a16:creationId xmlns:a16="http://schemas.microsoft.com/office/drawing/2014/main" id="{D5979EEC-4D4A-42C1-850A-1DFE83413E03}"/>
              </a:ext>
            </a:extLst>
          </p:cNvPr>
          <p:cNvSpPr txBox="1">
            <a:spLocks/>
          </p:cNvSpPr>
          <p:nvPr/>
        </p:nvSpPr>
        <p:spPr>
          <a:xfrm>
            <a:off x="628996" y="1091496"/>
            <a:ext cx="10848109" cy="44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82880" indent="-182880">
              <a:spcBef>
                <a:spcPts val="0"/>
              </a:spcBef>
            </a:pPr>
            <a:r>
              <a:rPr lang="ko-KR" altLang="en-US" dirty="0"/>
              <a:t>추론을 위한 입력 데이터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CF10F-0A94-4DFA-B234-B1F1DDC2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학습 모델을 이용한 </a:t>
            </a:r>
            <a:r>
              <a:rPr lang="ko-KR" altLang="ko-KR" dirty="0" err="1"/>
              <a:t>추론</a:t>
            </a:r>
            <a:r>
              <a:rPr lang="ko-KR" altLang="en-US" dirty="0" err="1"/>
              <a:t>－출력결과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817DD-52A4-440F-9AE8-2C71C6F1C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997" y="1940658"/>
            <a:ext cx="10848109" cy="4020663"/>
          </a:xfrm>
        </p:spPr>
        <p:txBody>
          <a:bodyPr>
            <a:normAutofit/>
          </a:bodyPr>
          <a:lstStyle/>
          <a:p>
            <a:pPr marL="558800" indent="-457200">
              <a:buFont typeface="+mj-lt"/>
              <a:buAutoNum type="arabicPeriod"/>
            </a:pPr>
            <a:r>
              <a:rPr lang="ko-KR" altLang="en-US" sz="1600" dirty="0"/>
              <a:t>저장된 </a:t>
            </a:r>
            <a:r>
              <a:rPr lang="en-US" altLang="ko-KR" sz="1600" dirty="0" err="1"/>
              <a:t>random_forest_model.pkl</a:t>
            </a:r>
            <a:r>
              <a:rPr lang="ko-KR" altLang="en-US" sz="1600" dirty="0"/>
              <a:t>을 다시 불러와 테스트</a:t>
            </a:r>
          </a:p>
          <a:p>
            <a:pPr marL="558800" indent="-457200">
              <a:buFont typeface="+mj-lt"/>
              <a:buAutoNum type="arabicPeriod"/>
            </a:pPr>
            <a:r>
              <a:rPr lang="ko-KR" altLang="en-US" sz="1600" dirty="0"/>
              <a:t>음식점 입력 데이터를 모델에 전달</a:t>
            </a:r>
          </a:p>
          <a:p>
            <a:pPr marL="558800" indent="-457200">
              <a:buFont typeface="+mj-lt"/>
              <a:buAutoNum type="arabicPeriod"/>
            </a:pPr>
            <a:r>
              <a:rPr lang="en-US" altLang="ko-KR" sz="1600" dirty="0"/>
              <a:t>1</a:t>
            </a:r>
            <a:r>
              <a:rPr lang="ko-KR" altLang="en-US" sz="1600" dirty="0"/>
              <a:t>년</a:t>
            </a:r>
            <a:r>
              <a:rPr lang="en-US" altLang="ko-KR" sz="1600" dirty="0"/>
              <a:t>, 3</a:t>
            </a:r>
            <a:r>
              <a:rPr lang="ko-KR" altLang="en-US" sz="1600" dirty="0"/>
              <a:t>년</a:t>
            </a:r>
            <a:r>
              <a:rPr lang="en-US" altLang="ko-KR" sz="1600" dirty="0"/>
              <a:t>, 5</a:t>
            </a:r>
            <a:r>
              <a:rPr lang="ko-KR" altLang="en-US" sz="1600" dirty="0"/>
              <a:t>년 내 폐업 </a:t>
            </a:r>
            <a:r>
              <a:rPr lang="en-US" altLang="ko-KR" sz="1600" dirty="0"/>
              <a:t>/ </a:t>
            </a:r>
            <a:r>
              <a:rPr lang="ko-KR" altLang="en-US" sz="1600" dirty="0"/>
              <a:t>생존 확률 예측</a:t>
            </a:r>
          </a:p>
          <a:p>
            <a:pPr marL="558800" indent="-457200">
              <a:buFont typeface="+mj-lt"/>
              <a:buAutoNum type="arabicPeriod"/>
            </a:pPr>
            <a:r>
              <a:rPr lang="ko-KR" altLang="en-US" sz="1600" dirty="0"/>
              <a:t>정상적으로 예측 결과가 출력되는 것을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2EFE64-61A5-47E1-9CCE-FA2F31135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32" y="1491479"/>
            <a:ext cx="3473629" cy="4153113"/>
          </a:xfrm>
          <a:prstGeom prst="rect">
            <a:avLst/>
          </a:prstGeom>
        </p:spPr>
      </p:pic>
      <p:sp>
        <p:nvSpPr>
          <p:cNvPr id="5" name="Google Shape;109;p7">
            <a:extLst>
              <a:ext uri="{FF2B5EF4-FFF2-40B4-BE49-F238E27FC236}">
                <a16:creationId xmlns:a16="http://schemas.microsoft.com/office/drawing/2014/main" id="{C3B34B7B-8E82-4F0B-B98D-6603323990BA}"/>
              </a:ext>
            </a:extLst>
          </p:cNvPr>
          <p:cNvSpPr txBox="1">
            <a:spLocks/>
          </p:cNvSpPr>
          <p:nvPr/>
        </p:nvSpPr>
        <p:spPr>
          <a:xfrm>
            <a:off x="671945" y="1058774"/>
            <a:ext cx="10848109" cy="52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82880" indent="-182880"/>
            <a:r>
              <a:rPr lang="ko-KR" altLang="en-US" dirty="0"/>
              <a:t>샘플 데이터를 이용한 추론 결과</a:t>
            </a:r>
          </a:p>
        </p:txBody>
      </p:sp>
    </p:spTree>
    <p:extLst>
      <p:ext uri="{BB962C8B-B14F-4D97-AF65-F5344CB8AC3E}">
        <p14:creationId xmlns:p14="http://schemas.microsoft.com/office/powerpoint/2010/main" val="3684032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모델을 활용한 AI 서비스 구조</a:t>
            </a:r>
            <a:endParaRPr dirty="0"/>
          </a:p>
        </p:txBody>
      </p:sp>
      <p:sp>
        <p:nvSpPr>
          <p:cNvPr id="121" name="Google Shape;121;p9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44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-KR" dirty="0"/>
              <a:t>웹 서비스 구성 내용</a:t>
            </a:r>
            <a:endParaRPr dirty="0"/>
          </a:p>
          <a:p>
            <a:pPr marL="685800" lvl="1" indent="-6858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CA715-989D-4E07-BC5A-78234453BBD4}"/>
              </a:ext>
            </a:extLst>
          </p:cNvPr>
          <p:cNvSpPr txBox="1"/>
          <p:nvPr/>
        </p:nvSpPr>
        <p:spPr>
          <a:xfrm>
            <a:off x="1828800" y="1860974"/>
            <a:ext cx="4114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1B3A6B"/>
                </a:solidFill>
                <a:latin typeface="+mn-ea"/>
                <a:ea typeface="+mn-ea"/>
              </a:rPr>
              <a:t>Front-End (</a:t>
            </a:r>
            <a:r>
              <a:rPr sz="1500" b="1" dirty="0" err="1">
                <a:solidFill>
                  <a:srgbClr val="1B3A6B"/>
                </a:solidFill>
                <a:latin typeface="+mn-ea"/>
                <a:ea typeface="+mn-ea"/>
              </a:rPr>
              <a:t>Streamlit</a:t>
            </a:r>
            <a:r>
              <a:rPr sz="1500" b="1" dirty="0">
                <a:solidFill>
                  <a:srgbClr val="1B3A6B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03DB0-A48B-4CD7-9089-32D5FE83DE32}"/>
              </a:ext>
            </a:extLst>
          </p:cNvPr>
          <p:cNvSpPr txBox="1"/>
          <p:nvPr/>
        </p:nvSpPr>
        <p:spPr>
          <a:xfrm>
            <a:off x="7040880" y="1860974"/>
            <a:ext cx="4114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1B3A6B"/>
                </a:solidFill>
                <a:latin typeface="+mn-ea"/>
                <a:ea typeface="+mn-ea"/>
              </a:rPr>
              <a:t>Back-End (</a:t>
            </a:r>
            <a:r>
              <a:rPr sz="1500" b="1" dirty="0" err="1">
                <a:solidFill>
                  <a:srgbClr val="1B3A6B"/>
                </a:solidFill>
                <a:latin typeface="+mn-ea"/>
                <a:ea typeface="+mn-ea"/>
              </a:rPr>
              <a:t>FastAPI</a:t>
            </a:r>
            <a:r>
              <a:rPr sz="1500" b="1" dirty="0">
                <a:solidFill>
                  <a:srgbClr val="1B3A6B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9F7300A-6161-4DB4-8F9E-032BA1FC8B32}"/>
              </a:ext>
            </a:extLst>
          </p:cNvPr>
          <p:cNvSpPr/>
          <p:nvPr/>
        </p:nvSpPr>
        <p:spPr>
          <a:xfrm>
            <a:off x="6720840" y="2226734"/>
            <a:ext cx="31750" cy="3708000"/>
          </a:xfrm>
          <a:prstGeom prst="rect">
            <a:avLst/>
          </a:prstGeom>
          <a:solidFill>
            <a:srgbClr val="E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id="{2ED599E3-8E65-425F-A28E-43024F798B21}"/>
              </a:ext>
            </a:extLst>
          </p:cNvPr>
          <p:cNvSpPr/>
          <p:nvPr/>
        </p:nvSpPr>
        <p:spPr>
          <a:xfrm>
            <a:off x="630936" y="2546774"/>
            <a:ext cx="1234440" cy="502920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+mn-ea"/>
              </a:rPr>
              <a:t>기술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+mn-ea"/>
              </a:rPr>
              <a:t>스택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" name="Right Arrow 9">
            <a:extLst>
              <a:ext uri="{FF2B5EF4-FFF2-40B4-BE49-F238E27FC236}">
                <a16:creationId xmlns:a16="http://schemas.microsoft.com/office/drawing/2014/main" id="{EAA4623E-3D2F-493A-91D3-65B273C0517C}"/>
              </a:ext>
            </a:extLst>
          </p:cNvPr>
          <p:cNvSpPr/>
          <p:nvPr/>
        </p:nvSpPr>
        <p:spPr>
          <a:xfrm>
            <a:off x="630936" y="4146974"/>
            <a:ext cx="1234440" cy="502920"/>
          </a:xfrm>
          <a:prstGeom prst="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+mn-ea"/>
              </a:rPr>
              <a:t>실행</a:t>
            </a:r>
            <a:r>
              <a:rPr sz="1100" b="1" dirty="0">
                <a:solidFill>
                  <a:srgbClr val="FFFFFF"/>
                </a:solidFill>
                <a:latin typeface="+mn-ea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+mn-ea"/>
              </a:rPr>
              <a:t>서버</a:t>
            </a:r>
            <a:endParaRPr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75B2AE62-F869-4172-AE46-8C1395234E83}"/>
              </a:ext>
            </a:extLst>
          </p:cNvPr>
          <p:cNvSpPr/>
          <p:nvPr/>
        </p:nvSpPr>
        <p:spPr>
          <a:xfrm>
            <a:off x="2377440" y="2501054"/>
            <a:ext cx="1554480" cy="594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2DB6C-6B9C-4A29-825A-76F02BC8E832}"/>
              </a:ext>
            </a:extLst>
          </p:cNvPr>
          <p:cNvSpPr txBox="1"/>
          <p:nvPr/>
        </p:nvSpPr>
        <p:spPr>
          <a:xfrm>
            <a:off x="2377440" y="2705901"/>
            <a:ext cx="15544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545454"/>
                </a:solidFill>
                <a:latin typeface="+mn-ea"/>
                <a:ea typeface="+mn-ea"/>
              </a:rPr>
              <a:t>웹 </a:t>
            </a:r>
            <a:r>
              <a:rPr sz="1200" b="1" dirty="0" err="1">
                <a:solidFill>
                  <a:srgbClr val="545454"/>
                </a:solidFill>
                <a:latin typeface="+mn-ea"/>
                <a:ea typeface="+mn-ea"/>
              </a:rPr>
              <a:t>브라우저</a:t>
            </a:r>
            <a:endParaRPr sz="1200" b="1" dirty="0">
              <a:solidFill>
                <a:srgbClr val="545454"/>
              </a:solidFill>
              <a:latin typeface="+mn-ea"/>
              <a:ea typeface="+mn-ea"/>
            </a:endParaRP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34C5F6E5-D00B-4797-A84D-9F35E994DE9C}"/>
              </a:ext>
            </a:extLst>
          </p:cNvPr>
          <p:cNvSpPr/>
          <p:nvPr/>
        </p:nvSpPr>
        <p:spPr>
          <a:xfrm>
            <a:off x="4663440" y="2501054"/>
            <a:ext cx="1737360" cy="594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B9216-AFCC-420E-B10F-C71A8C801E72}"/>
              </a:ext>
            </a:extLst>
          </p:cNvPr>
          <p:cNvSpPr txBox="1"/>
          <p:nvPr/>
        </p:nvSpPr>
        <p:spPr>
          <a:xfrm>
            <a:off x="4663440" y="2682818"/>
            <a:ext cx="17373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4B4B"/>
                </a:solidFill>
                <a:latin typeface="+mn-ea"/>
                <a:ea typeface="+mn-ea"/>
              </a:rPr>
              <a:t>streamlit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BC94A5B4-A124-43F3-9EC8-CCA565B9A751}"/>
              </a:ext>
            </a:extLst>
          </p:cNvPr>
          <p:cNvSpPr/>
          <p:nvPr/>
        </p:nvSpPr>
        <p:spPr>
          <a:xfrm>
            <a:off x="6995160" y="2501054"/>
            <a:ext cx="1828800" cy="594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E1C29-A826-4FA0-BF5C-921B346DA781}"/>
              </a:ext>
            </a:extLst>
          </p:cNvPr>
          <p:cNvSpPr txBox="1"/>
          <p:nvPr/>
        </p:nvSpPr>
        <p:spPr>
          <a:xfrm>
            <a:off x="6995160" y="2607156"/>
            <a:ext cx="1828800" cy="3821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dirty="0" err="1">
                <a:solidFill>
                  <a:srgbClr val="05998B"/>
                </a:solidFill>
                <a:latin typeface="+mn-ea"/>
                <a:ea typeface="+mn-ea"/>
              </a:rPr>
              <a:t>FastAPI</a:t>
            </a:r>
            <a:endParaRPr sz="1400" b="1" dirty="0">
              <a:solidFill>
                <a:srgbClr val="05998B"/>
              </a:solidFill>
              <a:latin typeface="+mn-ea"/>
              <a:ea typeface="+mn-ea"/>
            </a:endParaRPr>
          </a:p>
          <a:p>
            <a:pPr algn="ctr">
              <a:spcBef>
                <a:spcPts val="100"/>
              </a:spcBef>
            </a:pP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+ </a:t>
            </a: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Uvicorn</a:t>
            </a:r>
            <a:endParaRPr sz="1000" b="0" dirty="0">
              <a:solidFill>
                <a:srgbClr val="545454"/>
              </a:solidFill>
              <a:latin typeface="+mn-ea"/>
              <a:ea typeface="+mn-ea"/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013CADF4-6588-4965-87CA-5E7C01D37BBE}"/>
              </a:ext>
            </a:extLst>
          </p:cNvPr>
          <p:cNvSpPr/>
          <p:nvPr/>
        </p:nvSpPr>
        <p:spPr>
          <a:xfrm>
            <a:off x="9509760" y="2501054"/>
            <a:ext cx="1554480" cy="594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114408-9AB3-4CC8-87D5-9D8F611A5F7F}"/>
              </a:ext>
            </a:extLst>
          </p:cNvPr>
          <p:cNvSpPr txBox="1"/>
          <p:nvPr/>
        </p:nvSpPr>
        <p:spPr>
          <a:xfrm>
            <a:off x="9509760" y="2682818"/>
            <a:ext cx="15544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dirty="0">
                <a:solidFill>
                  <a:srgbClr val="003B57"/>
                </a:solidFill>
                <a:latin typeface="+mn-ea"/>
                <a:ea typeface="+mn-ea"/>
              </a:rPr>
              <a:t>SQLite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1EC3DF03-1F72-43CF-9662-AF024990F2F0}"/>
              </a:ext>
            </a:extLst>
          </p:cNvPr>
          <p:cNvSpPr/>
          <p:nvPr/>
        </p:nvSpPr>
        <p:spPr>
          <a:xfrm>
            <a:off x="2651760" y="3918374"/>
            <a:ext cx="1005840" cy="658368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BF9FED2A-1A85-4FDE-A631-579E38245E93}"/>
              </a:ext>
            </a:extLst>
          </p:cNvPr>
          <p:cNvSpPr/>
          <p:nvPr/>
        </p:nvSpPr>
        <p:spPr>
          <a:xfrm>
            <a:off x="2715768" y="3982382"/>
            <a:ext cx="877824" cy="530352"/>
          </a:xfrm>
          <a:prstGeom prst="rect">
            <a:avLst/>
          </a:prstGeom>
          <a:solidFill>
            <a:srgbClr val="CF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6FB8558C-E9D6-4C6D-A134-DC500BC5404E}"/>
              </a:ext>
            </a:extLst>
          </p:cNvPr>
          <p:cNvSpPr/>
          <p:nvPr/>
        </p:nvSpPr>
        <p:spPr>
          <a:xfrm>
            <a:off x="3081528" y="4576742"/>
            <a:ext cx="146304" cy="12801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F3BCEABC-4DA7-42D4-979C-5628FEB4D366}"/>
              </a:ext>
            </a:extLst>
          </p:cNvPr>
          <p:cNvSpPr/>
          <p:nvPr/>
        </p:nvSpPr>
        <p:spPr>
          <a:xfrm>
            <a:off x="2948940" y="4704758"/>
            <a:ext cx="411480" cy="640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1E9659AE-54BA-4C57-8D47-3C7782013FAF}"/>
              </a:ext>
            </a:extLst>
          </p:cNvPr>
          <p:cNvSpPr/>
          <p:nvPr/>
        </p:nvSpPr>
        <p:spPr>
          <a:xfrm>
            <a:off x="5074920" y="3781214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F6A17D1E-8BED-49AF-BFDA-643054A119A2}"/>
              </a:ext>
            </a:extLst>
          </p:cNvPr>
          <p:cNvSpPr/>
          <p:nvPr/>
        </p:nvSpPr>
        <p:spPr>
          <a:xfrm>
            <a:off x="5184648" y="3909230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72978295-83C4-4C6E-A969-0BEF12F87DF2}"/>
              </a:ext>
            </a:extLst>
          </p:cNvPr>
          <p:cNvSpPr/>
          <p:nvPr/>
        </p:nvSpPr>
        <p:spPr>
          <a:xfrm>
            <a:off x="5184648" y="4110398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E73143E8-5B93-414F-836F-52A65EDD8F1D}"/>
              </a:ext>
            </a:extLst>
          </p:cNvPr>
          <p:cNvSpPr/>
          <p:nvPr/>
        </p:nvSpPr>
        <p:spPr>
          <a:xfrm>
            <a:off x="5184648" y="4311566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DAB44573-CDDE-4F08-90A0-71C459CD841C}"/>
              </a:ext>
            </a:extLst>
          </p:cNvPr>
          <p:cNvSpPr/>
          <p:nvPr/>
        </p:nvSpPr>
        <p:spPr>
          <a:xfrm>
            <a:off x="5184648" y="4512734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Oval 27">
            <a:extLst>
              <a:ext uri="{FF2B5EF4-FFF2-40B4-BE49-F238E27FC236}">
                <a16:creationId xmlns:a16="http://schemas.microsoft.com/office/drawing/2014/main" id="{1D0BB723-E0EE-4822-8C47-E6EFD4648F57}"/>
              </a:ext>
            </a:extLst>
          </p:cNvPr>
          <p:cNvSpPr/>
          <p:nvPr/>
        </p:nvSpPr>
        <p:spPr>
          <a:xfrm>
            <a:off x="5806440" y="4668182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7" name="Oval 28">
            <a:extLst>
              <a:ext uri="{FF2B5EF4-FFF2-40B4-BE49-F238E27FC236}">
                <a16:creationId xmlns:a16="http://schemas.microsoft.com/office/drawing/2014/main" id="{C77CF3AE-7A42-4F99-B9A5-DDC22E13C3AF}"/>
              </a:ext>
            </a:extLst>
          </p:cNvPr>
          <p:cNvSpPr/>
          <p:nvPr/>
        </p:nvSpPr>
        <p:spPr>
          <a:xfrm>
            <a:off x="4965192" y="3671486"/>
            <a:ext cx="310896" cy="310896"/>
          </a:xfrm>
          <a:prstGeom prst="ellipse">
            <a:avLst/>
          </a:prstGeom>
          <a:solidFill>
            <a:srgbClr val="EE9A3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28" name="Rounded Rectangle 29">
            <a:extLst>
              <a:ext uri="{FF2B5EF4-FFF2-40B4-BE49-F238E27FC236}">
                <a16:creationId xmlns:a16="http://schemas.microsoft.com/office/drawing/2014/main" id="{68D78853-F057-45C8-ACA2-62E5D43C6077}"/>
              </a:ext>
            </a:extLst>
          </p:cNvPr>
          <p:cNvSpPr/>
          <p:nvPr/>
        </p:nvSpPr>
        <p:spPr>
          <a:xfrm>
            <a:off x="7452360" y="3781214"/>
            <a:ext cx="914400" cy="10515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B289E7A0-CE50-49DB-AC25-183FD4E2BBF3}"/>
              </a:ext>
            </a:extLst>
          </p:cNvPr>
          <p:cNvSpPr/>
          <p:nvPr/>
        </p:nvSpPr>
        <p:spPr>
          <a:xfrm>
            <a:off x="7562088" y="3909230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B991AF90-6F7B-4A0D-8204-D2D37FB01DF4}"/>
              </a:ext>
            </a:extLst>
          </p:cNvPr>
          <p:cNvSpPr/>
          <p:nvPr/>
        </p:nvSpPr>
        <p:spPr>
          <a:xfrm>
            <a:off x="7562088" y="4110398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A8C6DC9E-4938-480D-BEEF-0AAC52D36324}"/>
              </a:ext>
            </a:extLst>
          </p:cNvPr>
          <p:cNvSpPr/>
          <p:nvPr/>
        </p:nvSpPr>
        <p:spPr>
          <a:xfrm>
            <a:off x="7562088" y="4311566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D35B8C3E-FFD3-4ADD-B575-138A39914FD1}"/>
              </a:ext>
            </a:extLst>
          </p:cNvPr>
          <p:cNvSpPr/>
          <p:nvPr/>
        </p:nvSpPr>
        <p:spPr>
          <a:xfrm>
            <a:off x="7562088" y="4512734"/>
            <a:ext cx="694944" cy="32004"/>
          </a:xfrm>
          <a:prstGeom prst="rect">
            <a:avLst/>
          </a:prstGeom>
          <a:solidFill>
            <a:srgbClr val="6E8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Oval 34">
            <a:extLst>
              <a:ext uri="{FF2B5EF4-FFF2-40B4-BE49-F238E27FC236}">
                <a16:creationId xmlns:a16="http://schemas.microsoft.com/office/drawing/2014/main" id="{DE4781FB-81D5-4F2B-AD0E-C4F8095550C7}"/>
              </a:ext>
            </a:extLst>
          </p:cNvPr>
          <p:cNvSpPr/>
          <p:nvPr/>
        </p:nvSpPr>
        <p:spPr>
          <a:xfrm>
            <a:off x="8183880" y="4668182"/>
            <a:ext cx="73152" cy="7315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4" name="Oval 35">
            <a:extLst>
              <a:ext uri="{FF2B5EF4-FFF2-40B4-BE49-F238E27FC236}">
                <a16:creationId xmlns:a16="http://schemas.microsoft.com/office/drawing/2014/main" id="{32E9A375-2F9E-4886-B93F-C8E2D78E898C}"/>
              </a:ext>
            </a:extLst>
          </p:cNvPr>
          <p:cNvSpPr/>
          <p:nvPr/>
        </p:nvSpPr>
        <p:spPr>
          <a:xfrm>
            <a:off x="7342632" y="3671486"/>
            <a:ext cx="310896" cy="310896"/>
          </a:xfrm>
          <a:prstGeom prst="ellipse">
            <a:avLst/>
          </a:prstGeom>
          <a:solidFill>
            <a:srgbClr val="EE9A3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35" name="Can 36">
            <a:extLst>
              <a:ext uri="{FF2B5EF4-FFF2-40B4-BE49-F238E27FC236}">
                <a16:creationId xmlns:a16="http://schemas.microsoft.com/office/drawing/2014/main" id="{356B9EA0-0108-44D3-B686-92AB5F2D41BA}"/>
              </a:ext>
            </a:extLst>
          </p:cNvPr>
          <p:cNvSpPr/>
          <p:nvPr/>
        </p:nvSpPr>
        <p:spPr>
          <a:xfrm>
            <a:off x="9829800" y="3826934"/>
            <a:ext cx="914400" cy="960120"/>
          </a:xfrm>
          <a:prstGeom prst="can">
            <a:avLst/>
          </a:prstGeom>
          <a:solidFill>
            <a:srgbClr val="00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n-ea"/>
              </a:rPr>
              <a:t>.db</a:t>
            </a:r>
          </a:p>
        </p:txBody>
      </p:sp>
      <p:sp>
        <p:nvSpPr>
          <p:cNvPr id="36" name="Oval 37">
            <a:extLst>
              <a:ext uri="{FF2B5EF4-FFF2-40B4-BE49-F238E27FC236}">
                <a16:creationId xmlns:a16="http://schemas.microsoft.com/office/drawing/2014/main" id="{0ACB7746-C614-4017-859D-D27F0B05403E}"/>
              </a:ext>
            </a:extLst>
          </p:cNvPr>
          <p:cNvSpPr/>
          <p:nvPr/>
        </p:nvSpPr>
        <p:spPr>
          <a:xfrm>
            <a:off x="10543032" y="3717206"/>
            <a:ext cx="310896" cy="310896"/>
          </a:xfrm>
          <a:prstGeom prst="ellipse">
            <a:avLst/>
          </a:prstGeom>
          <a:solidFill>
            <a:srgbClr val="EE9A3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37" name="Left-Right Arrow 38">
            <a:extLst>
              <a:ext uri="{FF2B5EF4-FFF2-40B4-BE49-F238E27FC236}">
                <a16:creationId xmlns:a16="http://schemas.microsoft.com/office/drawing/2014/main" id="{B71B7712-F9A6-45DE-8191-042481ED9063}"/>
              </a:ext>
            </a:extLst>
          </p:cNvPr>
          <p:cNvSpPr/>
          <p:nvPr/>
        </p:nvSpPr>
        <p:spPr>
          <a:xfrm>
            <a:off x="3721608" y="4201838"/>
            <a:ext cx="1243584" cy="164592"/>
          </a:xfrm>
          <a:prstGeom prst="left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8" name="Left-Right Arrow 39">
            <a:extLst>
              <a:ext uri="{FF2B5EF4-FFF2-40B4-BE49-F238E27FC236}">
                <a16:creationId xmlns:a16="http://schemas.microsoft.com/office/drawing/2014/main" id="{266E97F2-8D6D-4888-A455-19D53E35448D}"/>
              </a:ext>
            </a:extLst>
          </p:cNvPr>
          <p:cNvSpPr/>
          <p:nvPr/>
        </p:nvSpPr>
        <p:spPr>
          <a:xfrm>
            <a:off x="6099048" y="4201838"/>
            <a:ext cx="1243584" cy="164592"/>
          </a:xfrm>
          <a:prstGeom prst="left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9" name="Left-Right Arrow 40">
            <a:extLst>
              <a:ext uri="{FF2B5EF4-FFF2-40B4-BE49-F238E27FC236}">
                <a16:creationId xmlns:a16="http://schemas.microsoft.com/office/drawing/2014/main" id="{5626FF23-7C15-4796-9171-3D13DA5A5D1C}"/>
              </a:ext>
            </a:extLst>
          </p:cNvPr>
          <p:cNvSpPr/>
          <p:nvPr/>
        </p:nvSpPr>
        <p:spPr>
          <a:xfrm>
            <a:off x="8476488" y="4201838"/>
            <a:ext cx="1243584" cy="164592"/>
          </a:xfrm>
          <a:prstGeom prst="leftRightArrow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2F25A2-16D4-439A-BF9D-9865F546B376}"/>
              </a:ext>
            </a:extLst>
          </p:cNvPr>
          <p:cNvSpPr txBox="1"/>
          <p:nvPr/>
        </p:nvSpPr>
        <p:spPr>
          <a:xfrm>
            <a:off x="2331720" y="5125382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545454"/>
                </a:solidFill>
                <a:latin typeface="+mn-ea"/>
                <a:ea typeface="+mn-ea"/>
              </a:rPr>
              <a:t>Client PC (</a:t>
            </a:r>
            <a:r>
              <a:rPr sz="1100" b="1" dirty="0" err="1">
                <a:solidFill>
                  <a:srgbClr val="545454"/>
                </a:solidFill>
                <a:latin typeface="+mn-ea"/>
                <a:ea typeface="+mn-ea"/>
              </a:rPr>
              <a:t>브라우저</a:t>
            </a:r>
            <a:r>
              <a:rPr sz="1100" b="1" dirty="0">
                <a:solidFill>
                  <a:srgbClr val="545454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88E173-C6D0-49E2-98D8-D8FEC0D71103}"/>
              </a:ext>
            </a:extLst>
          </p:cNvPr>
          <p:cNvSpPr txBox="1"/>
          <p:nvPr/>
        </p:nvSpPr>
        <p:spPr>
          <a:xfrm>
            <a:off x="4526280" y="5125382"/>
            <a:ext cx="2011680" cy="351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545454"/>
                </a:solidFill>
                <a:latin typeface="+mn-ea"/>
                <a:ea typeface="+mn-ea"/>
              </a:rPr>
              <a:t>① FE </a:t>
            </a:r>
            <a:r>
              <a:rPr sz="1200" b="1" dirty="0" err="1">
                <a:solidFill>
                  <a:srgbClr val="545454"/>
                </a:solidFill>
                <a:latin typeface="+mn-ea"/>
                <a:ea typeface="+mn-ea"/>
              </a:rPr>
              <a:t>서버</a:t>
            </a:r>
            <a:endParaRPr sz="1200" b="1" dirty="0">
              <a:solidFill>
                <a:srgbClr val="545454"/>
              </a:solidFill>
              <a:latin typeface="+mn-ea"/>
              <a:ea typeface="+mn-ea"/>
            </a:endParaRPr>
          </a:p>
          <a:p>
            <a:pPr algn="ctr">
              <a:spcBef>
                <a:spcPts val="100"/>
              </a:spcBef>
            </a:pP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Streamlit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  :8501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D0F0BE-FCDC-499A-A3D6-15451696962A}"/>
              </a:ext>
            </a:extLst>
          </p:cNvPr>
          <p:cNvSpPr txBox="1"/>
          <p:nvPr/>
        </p:nvSpPr>
        <p:spPr>
          <a:xfrm>
            <a:off x="6720840" y="5125382"/>
            <a:ext cx="2377440" cy="351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545454"/>
                </a:solidFill>
                <a:latin typeface="+mn-ea"/>
                <a:ea typeface="+mn-ea"/>
              </a:rPr>
              <a:t>② BE </a:t>
            </a:r>
            <a:r>
              <a:rPr sz="1200" b="1" dirty="0" err="1">
                <a:solidFill>
                  <a:srgbClr val="545454"/>
                </a:solidFill>
                <a:latin typeface="+mn-ea"/>
                <a:ea typeface="+mn-ea"/>
              </a:rPr>
              <a:t>서버</a:t>
            </a:r>
            <a:endParaRPr sz="1200" b="1" dirty="0">
              <a:solidFill>
                <a:srgbClr val="545454"/>
              </a:solidFill>
              <a:latin typeface="+mn-ea"/>
              <a:ea typeface="+mn-ea"/>
            </a:endParaRPr>
          </a:p>
          <a:p>
            <a:pPr algn="ctr">
              <a:spcBef>
                <a:spcPts val="100"/>
              </a:spcBef>
            </a:pP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FastAPI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(</a:t>
            </a: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Uvicorn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)  :8000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CF8230-4685-4ED2-9FF1-0F9DCCD9B8AB}"/>
              </a:ext>
            </a:extLst>
          </p:cNvPr>
          <p:cNvSpPr txBox="1"/>
          <p:nvPr/>
        </p:nvSpPr>
        <p:spPr>
          <a:xfrm>
            <a:off x="9189720" y="5125382"/>
            <a:ext cx="2194560" cy="3513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545454"/>
                </a:solidFill>
                <a:latin typeface="+mn-ea"/>
                <a:ea typeface="+mn-ea"/>
              </a:rPr>
              <a:t>③ DB</a:t>
            </a:r>
          </a:p>
          <a:p>
            <a:pPr algn="ctr">
              <a:spcBef>
                <a:spcPts val="100"/>
              </a:spcBef>
            </a:pP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SQLite (</a:t>
            </a: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파일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 </a:t>
            </a: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기반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, </a:t>
            </a: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BE에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 </a:t>
            </a:r>
            <a:r>
              <a:rPr sz="1000" b="0" dirty="0" err="1">
                <a:solidFill>
                  <a:srgbClr val="545454"/>
                </a:solidFill>
                <a:latin typeface="+mn-ea"/>
                <a:ea typeface="+mn-ea"/>
              </a:rPr>
              <a:t>내장</a:t>
            </a:r>
            <a:r>
              <a:rPr sz="1000" b="0" dirty="0">
                <a:solidFill>
                  <a:srgbClr val="545454"/>
                </a:solidFill>
                <a:latin typeface="+mn-ea"/>
                <a:ea typeface="+mn-ea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모델을 활용한 AI 서비스 구조</a:t>
            </a:r>
            <a:endParaRPr dirty="0"/>
          </a:p>
        </p:txBody>
      </p:sp>
      <p:sp>
        <p:nvSpPr>
          <p:cNvPr id="121" name="Google Shape;121;p9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44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indent="-182880">
              <a:spcBef>
                <a:spcPts val="0"/>
              </a:spcBef>
            </a:pPr>
            <a:r>
              <a:rPr lang="en-US" altLang="ko-KR" dirty="0">
                <a:latin typeface="+mn-ea"/>
                <a:ea typeface="+mn-ea"/>
              </a:rPr>
              <a:t> Front-End (</a:t>
            </a:r>
            <a:r>
              <a:rPr lang="en-US" altLang="ko-KR" dirty="0" err="1">
                <a:latin typeface="+mn-ea"/>
                <a:ea typeface="+mn-ea"/>
              </a:rPr>
              <a:t>Streamlit</a:t>
            </a:r>
            <a:r>
              <a:rPr lang="en-US" altLang="ko-KR" dirty="0">
                <a:latin typeface="+mn-ea"/>
                <a:ea typeface="+mn-ea"/>
              </a:rPr>
              <a:t>) : </a:t>
            </a:r>
            <a:r>
              <a:rPr lang="ko-KR" altLang="en-US" dirty="0">
                <a:latin typeface="+mn-ea"/>
                <a:ea typeface="+mn-ea"/>
              </a:rPr>
              <a:t>화면의 주요 기능</a:t>
            </a:r>
            <a:endParaRPr dirty="0">
              <a:latin typeface="+mn-ea"/>
              <a:ea typeface="+mn-ea"/>
            </a:endParaRPr>
          </a:p>
          <a:p>
            <a:pPr marL="685800" lvl="1" indent="-6858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</a:pPr>
            <a:endParaRPr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FF604-8448-4E57-B743-CF88E4312C12}"/>
              </a:ext>
            </a:extLst>
          </p:cNvPr>
          <p:cNvSpPr txBox="1"/>
          <p:nvPr/>
        </p:nvSpPr>
        <p:spPr>
          <a:xfrm>
            <a:off x="1022774" y="1910624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주요 기능 항목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7C44E0-50BA-49FE-B3A8-AF28350895AA}"/>
              </a:ext>
            </a:extLst>
          </p:cNvPr>
          <p:cNvSpPr txBox="1"/>
          <p:nvPr/>
        </p:nvSpPr>
        <p:spPr>
          <a:xfrm>
            <a:off x="2862811" y="1910624"/>
            <a:ext cx="5527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관련 내용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FCA8D07-02B8-4AE3-8247-96999C5DB8C1}"/>
              </a:ext>
            </a:extLst>
          </p:cNvPr>
          <p:cNvCxnSpPr/>
          <p:nvPr/>
        </p:nvCxnSpPr>
        <p:spPr>
          <a:xfrm>
            <a:off x="1029547" y="2218401"/>
            <a:ext cx="13953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84CF886-A1DB-47DF-86C3-EF776192CF5E}"/>
              </a:ext>
            </a:extLst>
          </p:cNvPr>
          <p:cNvCxnSpPr>
            <a:cxnSpLocks/>
          </p:cNvCxnSpPr>
          <p:nvPr/>
        </p:nvCxnSpPr>
        <p:spPr>
          <a:xfrm>
            <a:off x="2749974" y="2218401"/>
            <a:ext cx="56398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970F84-5C1A-4C80-9FC1-1AC1CFF5D25D}"/>
              </a:ext>
            </a:extLst>
          </p:cNvPr>
          <p:cNvSpPr txBox="1"/>
          <p:nvPr/>
        </p:nvSpPr>
        <p:spPr>
          <a:xfrm>
            <a:off x="8868618" y="1910624"/>
            <a:ext cx="2608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+mn-ea"/>
                <a:ea typeface="+mn-ea"/>
              </a:rPr>
              <a:t>비고</a:t>
            </a:r>
            <a:endParaRPr lang="ko-KR" altLang="en-US" dirty="0">
              <a:latin typeface="+mn-ea"/>
              <a:ea typeface="+mn-ea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6A14BF6-62C2-4B20-9D0F-85F431DE9B79}"/>
              </a:ext>
            </a:extLst>
          </p:cNvPr>
          <p:cNvCxnSpPr>
            <a:cxnSpLocks/>
          </p:cNvCxnSpPr>
          <p:nvPr/>
        </p:nvCxnSpPr>
        <p:spPr>
          <a:xfrm>
            <a:off x="8868618" y="2218401"/>
            <a:ext cx="26084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022774" y="2368401"/>
            <a:ext cx="138691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 dirty="0" err="1">
                <a:solidFill>
                  <a:srgbClr val="404040"/>
                </a:solidFill>
                <a:latin typeface="맑은 고딕"/>
              </a:rPr>
              <a:t>조건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입력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UI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62811" y="2368401"/>
            <a:ext cx="5527040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 dirty="0" err="1">
                <a:solidFill>
                  <a:srgbClr val="404040"/>
                </a:solidFill>
                <a:latin typeface="맑은 고딕"/>
              </a:rPr>
              <a:t>구·동·업종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리스트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선택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서버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제공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데이터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) +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사업장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면적·총종사자수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슬라이더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입력</a:t>
            </a:r>
            <a:endParaRPr sz="1200" dirty="0">
              <a:solidFill>
                <a:srgbClr val="404040"/>
              </a:solidFill>
              <a:latin typeface="맑은 고딕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1022774" y="3038401"/>
            <a:ext cx="1045433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022774" y="3098401"/>
            <a:ext cx="138691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 dirty="0" err="1">
                <a:solidFill>
                  <a:srgbClr val="404040"/>
                </a:solidFill>
                <a:latin typeface="맑은 고딕"/>
              </a:rPr>
              <a:t>서버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연동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(REST API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호출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862811" y="3098401"/>
            <a:ext cx="5527040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  <a:latin typeface="맑은 고딕"/>
              </a:rPr>
              <a:t>requests로 GET /api/gu, /api/dong, /api/business-types, /api/area-range 조회 후 선택박스 구성, POST /api/predict로 예측 요청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68618" y="3098401"/>
            <a:ext cx="2608488" cy="204861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endParaRPr sz="1200" dirty="0">
              <a:solidFill>
                <a:srgbClr val="404040"/>
              </a:solidFill>
              <a:latin typeface="맑은 고딕"/>
            </a:endParaRPr>
          </a:p>
        </p:txBody>
      </p:sp>
      <p:cxnSp>
        <p:nvCxnSpPr>
          <p:cNvPr id="129" name="Connector 128"/>
          <p:cNvCxnSpPr/>
          <p:nvPr/>
        </p:nvCxnSpPr>
        <p:spPr>
          <a:xfrm>
            <a:off x="1022774" y="3768401"/>
            <a:ext cx="1045433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022774" y="3828401"/>
            <a:ext cx="138691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 dirty="0" err="1">
                <a:solidFill>
                  <a:srgbClr val="404040"/>
                </a:solidFill>
                <a:latin typeface="맑은 고딕"/>
              </a:rPr>
              <a:t>예측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결과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시각화</a:t>
            </a:r>
            <a:endParaRPr sz="1200" dirty="0">
              <a:solidFill>
                <a:srgbClr val="404040"/>
              </a:solidFill>
              <a:latin typeface="맑은 고딕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862811" y="3828401"/>
            <a:ext cx="5527040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  <a:latin typeface="맑은 고딕"/>
              </a:rPr>
              <a:t>1·3·5년 생존율 카드(st.metric) + Plotly 꺾은선 그래프(모델 예측 vs DB 실측)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868618" y="3828401"/>
            <a:ext cx="260848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lang="en-US" altLang="ko-KR" sz="1200" dirty="0">
                <a:solidFill>
                  <a:srgbClr val="404040"/>
                </a:solidFill>
                <a:latin typeface="맑은 고딕"/>
              </a:rPr>
              <a:t>DB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</a:rPr>
              <a:t>실측 데이터가 없으면 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</a:rPr>
              <a:t>"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</a:rPr>
              <a:t>준비 중</a:t>
            </a:r>
            <a:r>
              <a:rPr lang="en-US" altLang="ko-KR" sz="1200" dirty="0">
                <a:solidFill>
                  <a:srgbClr val="404040"/>
                </a:solidFill>
                <a:latin typeface="맑은 고딕"/>
              </a:rPr>
              <a:t>" </a:t>
            </a:r>
            <a:r>
              <a:rPr lang="ko-KR" altLang="en-US" sz="1200" dirty="0">
                <a:solidFill>
                  <a:srgbClr val="404040"/>
                </a:solidFill>
                <a:latin typeface="맑은 고딕"/>
              </a:rPr>
              <a:t>안내로 자동 대체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022774" y="4476572"/>
            <a:ext cx="1045433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022774" y="4536572"/>
            <a:ext cx="138691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  <a:latin typeface="맑은 고딕"/>
              </a:rPr>
              <a:t>오류/예외 처리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862811" y="4536572"/>
            <a:ext cx="5527040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  <a:latin typeface="맑은 고딕"/>
              </a:rPr>
              <a:t>API 연결 실패·타임아웃 등 requests.RequestException 처리, /health로 BE 연결 상태 자동 감지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868618" y="4536572"/>
            <a:ext cx="260848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 dirty="0">
                <a:solidFill>
                  <a:srgbClr val="404040"/>
                </a:solidFill>
                <a:latin typeface="맑은 고딕"/>
              </a:rPr>
              <a:t>BE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미연결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시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화면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상단에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경고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배너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표시</a:t>
            </a:r>
            <a:endParaRPr sz="1200" dirty="0">
              <a:solidFill>
                <a:srgbClr val="404040"/>
              </a:solidFill>
              <a:latin typeface="맑은 고딕"/>
            </a:endParaRPr>
          </a:p>
        </p:txBody>
      </p:sp>
      <p:cxnSp>
        <p:nvCxnSpPr>
          <p:cNvPr id="141" name="Connector 140"/>
          <p:cNvCxnSpPr/>
          <p:nvPr/>
        </p:nvCxnSpPr>
        <p:spPr>
          <a:xfrm>
            <a:off x="1022774" y="5206572"/>
            <a:ext cx="1045433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022774" y="5266572"/>
            <a:ext cx="138691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  <a:latin typeface="맑은 고딕"/>
              </a:rPr>
              <a:t>서버 산출값 확인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62811" y="5266572"/>
            <a:ext cx="5527040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>
                <a:solidFill>
                  <a:srgbClr val="404040"/>
                </a:solidFill>
                <a:latin typeface="맑은 고딕"/>
              </a:rPr>
              <a:t>동종업체수·면적당종사자수·총종사자수 등 서버가 자동 계산한 값을 expander로 노출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68618" y="5266572"/>
            <a:ext cx="2608488" cy="730000"/>
          </a:xfrm>
          <a:prstGeom prst="rect">
            <a:avLst/>
          </a:prstGeom>
          <a:noFill/>
        </p:spPr>
        <p:txBody>
          <a:bodyPr wrap="square" lIns="0" tIns="20000" rIns="45700" bIns="0">
            <a:spAutoFit/>
          </a:bodyPr>
          <a:lstStyle/>
          <a:p>
            <a:pPr algn="l"/>
            <a:r>
              <a:rPr sz="1200" dirty="0" err="1">
                <a:solidFill>
                  <a:srgbClr val="404040"/>
                </a:solidFill>
                <a:latin typeface="맑은 고딕"/>
              </a:rPr>
              <a:t>사용자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입력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항목이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아님을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별도</a:t>
            </a:r>
            <a:r>
              <a:rPr sz="1200" dirty="0">
                <a:solidFill>
                  <a:srgbClr val="404040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404040"/>
                </a:solidFill>
                <a:latin typeface="맑은 고딕"/>
              </a:rPr>
              <a:t>안내</a:t>
            </a:r>
            <a:endParaRPr sz="1200" dirty="0">
              <a:solidFill>
                <a:srgbClr val="404040"/>
              </a:solidFill>
              <a:latin typeface="맑은 고딕"/>
            </a:endParaRPr>
          </a:p>
        </p:txBody>
      </p:sp>
      <p:cxnSp>
        <p:nvCxnSpPr>
          <p:cNvPr id="145" name="Connector 144"/>
          <p:cNvCxnSpPr/>
          <p:nvPr/>
        </p:nvCxnSpPr>
        <p:spPr>
          <a:xfrm>
            <a:off x="1022774" y="5936572"/>
            <a:ext cx="1045433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85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331649"/>
            <a:ext cx="10848109" cy="75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-KR" dirty="0">
                <a:latin typeface="+mn-ea"/>
                <a:ea typeface="+mn-ea"/>
              </a:rPr>
              <a:t>서비스 </a:t>
            </a:r>
            <a:r>
              <a:rPr lang="ko-KR" dirty="0" err="1">
                <a:latin typeface="+mn-ea"/>
                <a:ea typeface="+mn-ea"/>
              </a:rPr>
              <a:t>end-point</a:t>
            </a:r>
            <a:r>
              <a:rPr lang="ko-KR" dirty="0">
                <a:latin typeface="+mn-ea"/>
                <a:ea typeface="+mn-ea"/>
              </a:rPr>
              <a:t> 구성</a:t>
            </a:r>
            <a:endParaRPr lang="en-US" altLang="ko-KR" dirty="0">
              <a:latin typeface="+mn-ea"/>
              <a:ea typeface="+mn-ea"/>
            </a:endParaRPr>
          </a:p>
          <a:p>
            <a:pPr marL="182880" indent="-182880">
              <a:spcBef>
                <a:spcPts val="600"/>
              </a:spcBef>
            </a:pPr>
            <a:r>
              <a:rPr lang="en-US" altLang="ko-KR" dirty="0">
                <a:latin typeface="+mn-ea"/>
                <a:ea typeface="+mn-ea"/>
              </a:rPr>
              <a:t>End-point</a:t>
            </a:r>
            <a:r>
              <a:rPr lang="ko-KR" altLang="en-US" dirty="0">
                <a:latin typeface="+mn-ea"/>
                <a:ea typeface="+mn-ea"/>
              </a:rPr>
              <a:t>별 처리 내용 설명</a:t>
            </a:r>
          </a:p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dirty="0">
              <a:latin typeface="+mn-ea"/>
              <a:ea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18D226-C1D0-44BA-9F1D-14A1CEF66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1" y="2030646"/>
            <a:ext cx="11341683" cy="45595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dirty="0"/>
              <a:t>DB 사용하는 경우 DB 접속과 </a:t>
            </a:r>
            <a:r>
              <a:rPr lang="ko-KR" dirty="0" err="1"/>
              <a:t>Query</a:t>
            </a:r>
            <a:r>
              <a:rPr lang="ko-KR" dirty="0"/>
              <a:t> 부분에 대한 설명</a:t>
            </a:r>
            <a:endParaRPr dirty="0"/>
          </a:p>
        </p:txBody>
      </p:sp>
      <p:pic>
        <p:nvPicPr>
          <p:cNvPr id="4" name="Picture 2" descr="image.png">
            <a:extLst>
              <a:ext uri="{FF2B5EF4-FFF2-40B4-BE49-F238E27FC236}">
                <a16:creationId xmlns:a16="http://schemas.microsoft.com/office/drawing/2014/main" id="{D624B4A4-D24E-4F3A-9478-192D78A4A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2734"/>
            <a:ext cx="5343525" cy="2346870"/>
          </a:xfrm>
          <a:prstGeom prst="rect">
            <a:avLst/>
          </a:prstGeom>
        </p:spPr>
      </p:pic>
      <p:pic>
        <p:nvPicPr>
          <p:cNvPr id="5" name="Picture 3" descr="image.png">
            <a:extLst>
              <a:ext uri="{FF2B5EF4-FFF2-40B4-BE49-F238E27FC236}">
                <a16:creationId xmlns:a16="http://schemas.microsoft.com/office/drawing/2014/main" id="{6F1B8966-CEFD-4B37-AA2E-D5632538F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92734"/>
            <a:ext cx="5343525" cy="2346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FB6F87-CECB-404A-995C-3C69A5F1357B}"/>
              </a:ext>
            </a:extLst>
          </p:cNvPr>
          <p:cNvSpPr txBox="1"/>
          <p:nvPr/>
        </p:nvSpPr>
        <p:spPr>
          <a:xfrm>
            <a:off x="1115615" y="2875380"/>
            <a:ext cx="4759344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계층형</a:t>
            </a:r>
            <a:r>
              <a:rPr sz="1650" b="1" i="0" u="none" dirty="0">
                <a:solidFill>
                  <a:srgbClr val="0284C7"/>
                </a:solidFill>
                <a:latin typeface="맑은 고딕" panose="020B0503020000020004" pitchFamily="50" charset="-127"/>
              </a:rPr>
              <a:t> </a:t>
            </a: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테이블</a:t>
            </a:r>
            <a:r>
              <a:rPr sz="1650" b="1" i="0" u="none" dirty="0">
                <a:solidFill>
                  <a:srgbClr val="0284C7"/>
                </a:solidFill>
                <a:latin typeface="맑은 고딕" panose="020B0503020000020004" pitchFamily="50" charset="-127"/>
              </a:rPr>
              <a:t> </a:t>
            </a: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관계</a:t>
            </a:r>
            <a:r>
              <a:rPr sz="1650" b="1" i="0" u="none" dirty="0">
                <a:solidFill>
                  <a:srgbClr val="0284C7"/>
                </a:solidFill>
                <a:latin typeface="맑은 고딕" panose="020B0503020000020004" pitchFamily="50" charset="-127"/>
              </a:rPr>
              <a:t> (1 : N : 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3B7E99-636C-4294-8E61-2EDF56FE727B}"/>
              </a:ext>
            </a:extLst>
          </p:cNvPr>
          <p:cNvSpPr txBox="1"/>
          <p:nvPr/>
        </p:nvSpPr>
        <p:spPr>
          <a:xfrm>
            <a:off x="857250" y="3253680"/>
            <a:ext cx="4791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Gu (구) ➔ Dong (동) ➔ Business (업소)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의 3계층 관계 구조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E7709-F4B6-42C3-AE85-9978434EE597}"/>
              </a:ext>
            </a:extLst>
          </p:cNvPr>
          <p:cNvSpPr txBox="1"/>
          <p:nvPr/>
        </p:nvSpPr>
        <p:spPr>
          <a:xfrm>
            <a:off x="857250" y="3615630"/>
            <a:ext cx="4791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relationship과 back_populates 속성을 통해 ORM 객체 그래프 간 양방향 참조 지원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D7509-B7EF-49D2-9F18-B313C1095191}"/>
              </a:ext>
            </a:extLst>
          </p:cNvPr>
          <p:cNvSpPr txBox="1"/>
          <p:nvPr/>
        </p:nvSpPr>
        <p:spPr>
          <a:xfrm>
            <a:off x="857250" y="4206180"/>
            <a:ext cx="4791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cascade="all, delete-orphan" 적용으로 상위 구/동 삭제 시 하위 참조 자동 정돈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B89B4-7976-47B6-A4EE-5D2DD525A49B}"/>
              </a:ext>
            </a:extLst>
          </p:cNvPr>
          <p:cNvSpPr txBox="1"/>
          <p:nvPr/>
        </p:nvSpPr>
        <p:spPr>
          <a:xfrm>
            <a:off x="6802040" y="2875380"/>
            <a:ext cx="4759344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연차별</a:t>
            </a:r>
            <a:r>
              <a:rPr sz="1650" b="1" i="0" u="none" dirty="0">
                <a:solidFill>
                  <a:srgbClr val="0284C7"/>
                </a:solidFill>
                <a:latin typeface="맑은 고딕" panose="020B0503020000020004" pitchFamily="50" charset="-127"/>
              </a:rPr>
              <a:t> </a:t>
            </a: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생존</a:t>
            </a:r>
            <a:r>
              <a:rPr sz="1650" b="1" i="0" u="none" dirty="0">
                <a:solidFill>
                  <a:srgbClr val="0284C7"/>
                </a:solidFill>
                <a:latin typeface="맑은 고딕" panose="020B0503020000020004" pitchFamily="50" charset="-127"/>
              </a:rPr>
              <a:t> </a:t>
            </a: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라벨</a:t>
            </a:r>
            <a:r>
              <a:rPr sz="1650" b="1" i="0" u="none" dirty="0">
                <a:solidFill>
                  <a:srgbClr val="0284C7"/>
                </a:solidFill>
                <a:latin typeface="맑은 고딕" panose="020B0503020000020004" pitchFamily="50" charset="-127"/>
              </a:rPr>
              <a:t> 및 </a:t>
            </a:r>
            <a:r>
              <a:rPr sz="1650" b="1" i="0" u="none" dirty="0" err="1">
                <a:solidFill>
                  <a:srgbClr val="0284C7"/>
                </a:solidFill>
                <a:latin typeface="맑은 고딕" panose="020B0503020000020004" pitchFamily="50" charset="-127"/>
              </a:rPr>
              <a:t>인덱싱</a:t>
            </a:r>
            <a:endParaRPr sz="1650" b="1" i="0" u="none" dirty="0">
              <a:solidFill>
                <a:srgbClr val="0284C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27B7A-2AB9-4FC2-98F6-660C363EA018}"/>
              </a:ext>
            </a:extLst>
          </p:cNvPr>
          <p:cNvSpPr txBox="1"/>
          <p:nvPr/>
        </p:nvSpPr>
        <p:spPr>
          <a:xfrm>
            <a:off x="6543675" y="3253680"/>
            <a:ext cx="4791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Business 테이블 내에 label_1, label_3, label_5 컬럼을 개별 구성하여 1/3/5년 실측 생존 여부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F15F99-F9D4-4FDC-8C49-121C629468A5}"/>
              </a:ext>
            </a:extLst>
          </p:cNvPr>
          <p:cNvSpPr txBox="1"/>
          <p:nvPr/>
        </p:nvSpPr>
        <p:spPr>
          <a:xfrm>
            <a:off x="6543675" y="3844230"/>
            <a:ext cx="47910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gu_name, dong_name, business_type, business_status 등 주요 조회 조건 필드에 </a:t>
            </a:r>
            <a:r>
              <a:rPr sz="1200" b="1" i="0" u="none">
                <a:solidFill>
                  <a:srgbClr val="334155"/>
                </a:solidFill>
                <a:latin typeface="Noto Sans KR"/>
              </a:rPr>
              <a:t>B-Tree Index(index=True)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를 적용하여 검색 속도 극대화</a:t>
            </a:r>
          </a:p>
        </p:txBody>
      </p:sp>
      <p:pic>
        <p:nvPicPr>
          <p:cNvPr id="13" name="Picture 11" descr="image.png">
            <a:extLst>
              <a:ext uri="{FF2B5EF4-FFF2-40B4-BE49-F238E27FC236}">
                <a16:creationId xmlns:a16="http://schemas.microsoft.com/office/drawing/2014/main" id="{91132A38-C749-4682-83FA-765538D6F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89795"/>
            <a:ext cx="163115" cy="209550"/>
          </a:xfrm>
          <a:prstGeom prst="rect">
            <a:avLst/>
          </a:prstGeom>
        </p:spPr>
      </p:pic>
      <p:pic>
        <p:nvPicPr>
          <p:cNvPr id="14" name="Picture 12" descr="image.png">
            <a:extLst>
              <a:ext uri="{FF2B5EF4-FFF2-40B4-BE49-F238E27FC236}">
                <a16:creationId xmlns:a16="http://schemas.microsoft.com/office/drawing/2014/main" id="{188604BF-3CFF-4699-830E-C92861ABA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889795"/>
            <a:ext cx="16311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27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020077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/>
            <a:r>
              <a:rPr lang="en-US" altLang="ko-KR" dirty="0"/>
              <a:t>Database Table Specification</a:t>
            </a:r>
            <a:endParaRPr dirty="0"/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711DD0B6-0C16-4461-B919-EE3C175B9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835541"/>
              </p:ext>
            </p:extLst>
          </p:nvPr>
        </p:nvGraphicFramePr>
        <p:xfrm>
          <a:off x="731520" y="1661159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400" dirty="0" err="1">
                          <a:latin typeface="+mn-ea"/>
                          <a:ea typeface="+mn-ea"/>
                        </a:rPr>
                        <a:t>gu</a:t>
                      </a:r>
                      <a:r>
                        <a:rPr lang="en-US" sz="1400" dirty="0">
                          <a:latin typeface="+mn-ea"/>
                          <a:ea typeface="+mn-ea"/>
                        </a:rPr>
                        <a:t> table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sz="140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46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ea"/>
                          <a:ea typeface="+mn-ea"/>
                        </a:rPr>
                        <a:t>컬럼명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ea"/>
                          <a:ea typeface="+mn-ea"/>
                        </a:rPr>
                        <a:t>타입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>
                          <a:latin typeface="+mn-ea"/>
                          <a:ea typeface="+mn-ea"/>
                        </a:rPr>
                        <a:t>제약 조건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ea"/>
                          <a:ea typeface="+mn-ea"/>
                        </a:rPr>
                        <a:t>설명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gu_id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구 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고유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gu_name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NOT NULL, UNIQUE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구 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이름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 (예: 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종로구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강남구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3">
            <a:extLst>
              <a:ext uri="{FF2B5EF4-FFF2-40B4-BE49-F238E27FC236}">
                <a16:creationId xmlns:a16="http://schemas.microsoft.com/office/drawing/2014/main" id="{FCE40E1A-77D6-4E04-9467-B7FA43DB1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605713"/>
              </p:ext>
            </p:extLst>
          </p:nvPr>
        </p:nvGraphicFramePr>
        <p:xfrm>
          <a:off x="731520" y="3772744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 gridSpan="4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400" dirty="0">
                          <a:latin typeface="+mn-ea"/>
                          <a:ea typeface="+mn-ea"/>
                        </a:rPr>
                        <a:t>dong table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sz="140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5866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ea"/>
                          <a:ea typeface="+mn-ea"/>
                        </a:rPr>
                        <a:t>컬럼명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ea"/>
                          <a:ea typeface="+mn-ea"/>
                        </a:rPr>
                        <a:t>타입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>
                          <a:latin typeface="+mn-ea"/>
                          <a:ea typeface="+mn-ea"/>
                        </a:rPr>
                        <a:t>제약 조건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>
                          <a:latin typeface="+mn-ea"/>
                          <a:ea typeface="+mn-ea"/>
                        </a:rPr>
                        <a:t>설명</a:t>
                      </a:r>
                      <a:endParaRPr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dong_id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동 고유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gu_id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NOT NULL, FK(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gu.gu_id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소속 구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dong_name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+mn-ea"/>
                          <a:ea typeface="+mn-ea"/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latin typeface="+mn-ea"/>
                          <a:ea typeface="+mn-ea"/>
                        </a:rPr>
                        <a:t>동 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이름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 (예: </a:t>
                      </a:r>
                      <a:r>
                        <a:rPr sz="1400" dirty="0" err="1">
                          <a:latin typeface="+mn-ea"/>
                          <a:ea typeface="+mn-ea"/>
                        </a:rPr>
                        <a:t>혜화동</a:t>
                      </a:r>
                      <a:r>
                        <a:rPr sz="14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978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71945" y="1006148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/>
            <a:r>
              <a:rPr lang="en-US" altLang="ko-KR" dirty="0"/>
              <a:t>Database Table Specification</a:t>
            </a:r>
            <a:endParaRPr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77624611-9CD7-4F31-A216-3D78FA317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123665"/>
              </p:ext>
            </p:extLst>
          </p:nvPr>
        </p:nvGraphicFramePr>
        <p:xfrm>
          <a:off x="821574" y="1520617"/>
          <a:ext cx="1069848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 gridSpan="4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business table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87041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컬럼명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제약 조건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설명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dirty="0" err="1"/>
                        <a:t>business_id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PK, AUTOINCREMENT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사업장 고유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dirty="0" err="1"/>
                        <a:t>business_name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사업장명 (상호명)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dirty="0" err="1"/>
                        <a:t>business_type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업태구분명 (한식, 일식 등)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dong_id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NOT NULL, FK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소재지 동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permit_date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인허가일자 (YYYY-MM-DD)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business_status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영업상태명 (영업/정상, 폐업 등)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closure_date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폐업일자 (YYYY-MM-DD)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site_area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REAL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소재지면적 (㎡)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lot_address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지번주소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t>total_workers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INTEGER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총종사자수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dirty="0" err="1"/>
                        <a:t>last_modified_at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최종수정시점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160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6" name="Google Shape;127;p10">
            <a:extLst>
              <a:ext uri="{FF2B5EF4-FFF2-40B4-BE49-F238E27FC236}">
                <a16:creationId xmlns:a16="http://schemas.microsoft.com/office/drawing/2014/main" id="{B9600CB1-E798-42B5-B546-FDB4C74DC448}"/>
              </a:ext>
            </a:extLst>
          </p:cNvPr>
          <p:cNvSpPr txBox="1">
            <a:spLocks/>
          </p:cNvSpPr>
          <p:nvPr/>
        </p:nvSpPr>
        <p:spPr>
          <a:xfrm>
            <a:off x="671945" y="1119557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82880" indent="-182880"/>
            <a:r>
              <a:rPr lang="en-US" altLang="ko-KR"/>
              <a:t>Database Table Specification</a:t>
            </a:r>
            <a:endParaRPr lang="en-US" dirty="0"/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A4BE6827-46DD-4BC9-BB1D-34297CEB0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16477"/>
              </p:ext>
            </p:extLst>
          </p:nvPr>
        </p:nvGraphicFramePr>
        <p:xfrm>
          <a:off x="746759" y="1734699"/>
          <a:ext cx="1069848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7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 gridSpan="4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business table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87041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컬럼명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제약 조건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설명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label_1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INTEGER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CHECK (0, 1 OR NULL)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  <a:r>
                        <a:rPr lang="ko-KR" alt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년 생존 여부 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(1: </a:t>
                      </a:r>
                      <a:r>
                        <a:rPr lang="ko-KR" altLang="en-US" sz="1400" b="0" i="0" u="none" strike="noStrike" cap="none" spc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영업중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0: </a:t>
                      </a:r>
                      <a:r>
                        <a:rPr lang="ko-KR" alt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폐업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label_3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INTEGER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CHECK (0, 1 OR NULL)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r>
                        <a:rPr lang="ko-KR" alt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년 생존 여부 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(1: </a:t>
                      </a:r>
                      <a:r>
                        <a:rPr lang="ko-KR" altLang="en-US" sz="1400" b="0" i="0" u="none" strike="noStrike" cap="none" spc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영업중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0: </a:t>
                      </a:r>
                      <a:r>
                        <a:rPr lang="ko-KR" alt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폐업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label_5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INTEGER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CHECK (0, 1 OR NULL)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년 생존 여부 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(1: </a:t>
                      </a:r>
                      <a:r>
                        <a:rPr lang="ko-KR" altLang="en-US" sz="1400" b="0" i="0" u="none" strike="noStrike" cap="none" spc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영업중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0: </a:t>
                      </a:r>
                      <a:r>
                        <a:rPr lang="ko-KR" altLang="en-US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폐업</a:t>
                      </a:r>
                      <a:r>
                        <a:rPr lang="en-US" altLang="ko-KR" sz="1400" b="0" i="0" u="none" strike="noStrike" cap="none" spc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02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6" name="Google Shape;127;p10">
            <a:extLst>
              <a:ext uri="{FF2B5EF4-FFF2-40B4-BE49-F238E27FC236}">
                <a16:creationId xmlns:a16="http://schemas.microsoft.com/office/drawing/2014/main" id="{B9600CB1-E798-42B5-B546-FDB4C74DC448}"/>
              </a:ext>
            </a:extLst>
          </p:cNvPr>
          <p:cNvSpPr txBox="1">
            <a:spLocks/>
          </p:cNvSpPr>
          <p:nvPr/>
        </p:nvSpPr>
        <p:spPr>
          <a:xfrm>
            <a:off x="671945" y="1129808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 spc="0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82880" indent="-182880"/>
            <a:r>
              <a:rPr lang="en-US" altLang="ko-KR" dirty="0"/>
              <a:t>Database Table Specification</a:t>
            </a:r>
            <a:endParaRPr lang="en-US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CDC579AD-2F5D-46E1-9449-83EFBB888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845811"/>
              </p:ext>
            </p:extLst>
          </p:nvPr>
        </p:nvGraphicFramePr>
        <p:xfrm>
          <a:off x="731520" y="1838961"/>
          <a:ext cx="1069848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 gridSpan="3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Index </a:t>
                      </a:r>
                      <a:r>
                        <a:rPr lang="ko-KR" altLang="en-US" dirty="0"/>
                        <a:t>구성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563E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81019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인덱스명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대상 컬럼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생성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목적</a:t>
                      </a:r>
                      <a:endParaRPr dirty="0"/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idx_dong_gu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dong (gu_id, dong_name)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구별 동 조회 속도 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idx_business_dong_type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business (dong_id, business_type)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지역/업종별 집계 최적화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idx_business_dong_type_permit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business (..., permit_date)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시점별 인허가 추이 분석 최적화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idx_business_competitor_lookup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business (..., closure_date)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동종업체수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계산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성능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극대화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056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223278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altLang="en-US" dirty="0"/>
              <a:t>쿼리 설명</a:t>
            </a:r>
            <a:endParaRPr dirty="0"/>
          </a:p>
        </p:txBody>
      </p:sp>
      <p:pic>
        <p:nvPicPr>
          <p:cNvPr id="15" name="Picture 2" descr="image.png">
            <a:extLst>
              <a:ext uri="{FF2B5EF4-FFF2-40B4-BE49-F238E27FC236}">
                <a16:creationId xmlns:a16="http://schemas.microsoft.com/office/drawing/2014/main" id="{E8A70F81-A657-4767-9FCF-993D26EF7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89683"/>
            <a:ext cx="11029950" cy="3552825"/>
          </a:xfrm>
          <a:prstGeom prst="rect">
            <a:avLst/>
          </a:prstGeom>
        </p:spPr>
      </p:pic>
      <p:graphicFrame>
        <p:nvGraphicFramePr>
          <p:cNvPr id="16" name="Table 3">
            <a:extLst>
              <a:ext uri="{FF2B5EF4-FFF2-40B4-BE49-F238E27FC236}">
                <a16:creationId xmlns:a16="http://schemas.microsoft.com/office/drawing/2014/main" id="{6EF27C68-725D-4318-9CF9-B6FE02A8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083043"/>
              </p:ext>
            </p:extLst>
          </p:nvPr>
        </p:nvGraphicFramePr>
        <p:xfrm>
          <a:off x="590550" y="1999208"/>
          <a:ext cx="11010899" cy="353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9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1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755">
                <a:tc>
                  <a:txBody>
                    <a:bodyPr/>
                    <a:lstStyle/>
                    <a:p>
                      <a:pPr algn="ctr"/>
                      <a:r>
                        <a:rPr sz="1125" b="1" i="0" u="none" dirty="0" err="1">
                          <a:solidFill>
                            <a:srgbClr val="0369A1"/>
                          </a:solidFill>
                          <a:latin typeface="Noto Sans KR"/>
                        </a:rPr>
                        <a:t>조회</a:t>
                      </a:r>
                      <a:r>
                        <a:rPr sz="1125" b="1" i="0" u="none" dirty="0">
                          <a:solidFill>
                            <a:srgbClr val="0369A1"/>
                          </a:solidFill>
                          <a:latin typeface="Noto Sans KR"/>
                        </a:rPr>
                        <a:t> </a:t>
                      </a:r>
                      <a:r>
                        <a:rPr sz="1125" b="1" i="0" u="none" dirty="0" err="1">
                          <a:solidFill>
                            <a:srgbClr val="0369A1"/>
                          </a:solidFill>
                          <a:latin typeface="Noto Sans KR"/>
                        </a:rPr>
                        <a:t>대상</a:t>
                      </a:r>
                      <a:endParaRPr sz="1125" b="1" i="0" u="none" dirty="0">
                        <a:solidFill>
                          <a:srgbClr val="0369A1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369A1"/>
                          </a:solidFill>
                          <a:latin typeface="Noto Sans KR"/>
                        </a:rPr>
                        <a:t>사용 쿼리 (SQLAlchemy ORM Expression)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369A1"/>
                          </a:solidFill>
                          <a:latin typeface="Noto Sans KR"/>
                        </a:rPr>
                        <a:t>쿼리 특성 및 최적화 포인트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동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목록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조회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db.query(distinct(Dong.dong_name)).join(Gu).filter(Gu.gu_name == gu)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Gu와 Dong의 FK Join 후 Distinct 적용으로 특정 구에 속한 동 명칭만 중복없이 추출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동종업체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수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집계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db.query(func.count(Business.business_id)).join(Dong).join(Gu).filter(...)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구/동/업종 및 business_status == '영업/정상' 조건으로 현재 영업 중인 점포 수 동적 계산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면적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범위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집계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db.query(func.min(Business.site_area), func.max(Business.site_area))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Aggregate 단일 실행으로 네트워크 RTT 단축 및 결과 None 시 전체 면적으로 Fallback 처리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실측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통계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비교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matched = df_baseline[(df_baseline['gu_name'] == payload.gu) &amp; ...]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반복적인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DB Group By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쿼리를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지양하고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,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서버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시작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시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DataFrame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로딩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후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인메모리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필터링으로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처리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극대화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4">
            <a:extLst>
              <a:ext uri="{FF2B5EF4-FFF2-40B4-BE49-F238E27FC236}">
                <a16:creationId xmlns:a16="http://schemas.microsoft.com/office/drawing/2014/main" id="{D1F2EB0D-A7E4-494F-B373-A5A6574362DC}"/>
              </a:ext>
            </a:extLst>
          </p:cNvPr>
          <p:cNvSpPr/>
          <p:nvPr/>
        </p:nvSpPr>
        <p:spPr>
          <a:xfrm>
            <a:off x="590550" y="2685008"/>
            <a:ext cx="87496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68ECBDE8-9B82-4618-8234-E11BE32DD14C}"/>
              </a:ext>
            </a:extLst>
          </p:cNvPr>
          <p:cNvSpPr/>
          <p:nvPr/>
        </p:nvSpPr>
        <p:spPr>
          <a:xfrm>
            <a:off x="1465510" y="2685008"/>
            <a:ext cx="626462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AFB7232C-97D5-4E30-AC3C-62F4B44F0623}"/>
              </a:ext>
            </a:extLst>
          </p:cNvPr>
          <p:cNvSpPr/>
          <p:nvPr/>
        </p:nvSpPr>
        <p:spPr>
          <a:xfrm>
            <a:off x="7730132" y="2685008"/>
            <a:ext cx="387131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D9F910F4-33E2-457B-AA5A-9B6703E109CF}"/>
              </a:ext>
            </a:extLst>
          </p:cNvPr>
          <p:cNvSpPr/>
          <p:nvPr/>
        </p:nvSpPr>
        <p:spPr>
          <a:xfrm>
            <a:off x="590550" y="3356520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CE0D197F-4F16-4029-AFC9-4D54E0F9BF4B}"/>
              </a:ext>
            </a:extLst>
          </p:cNvPr>
          <p:cNvSpPr/>
          <p:nvPr/>
        </p:nvSpPr>
        <p:spPr>
          <a:xfrm>
            <a:off x="1465510" y="3356520"/>
            <a:ext cx="6264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4E09960A-AF1D-4FBB-9940-B8496A9E4E9F}"/>
              </a:ext>
            </a:extLst>
          </p:cNvPr>
          <p:cNvSpPr/>
          <p:nvPr/>
        </p:nvSpPr>
        <p:spPr>
          <a:xfrm>
            <a:off x="7730132" y="3356520"/>
            <a:ext cx="3871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7B359924-1EA7-4746-8BEC-EE29CEBF14D6}"/>
              </a:ext>
            </a:extLst>
          </p:cNvPr>
          <p:cNvSpPr/>
          <p:nvPr/>
        </p:nvSpPr>
        <p:spPr>
          <a:xfrm>
            <a:off x="590550" y="4213770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734F67D-0FF4-45F6-ABE7-3FE94AC7CB91}"/>
              </a:ext>
            </a:extLst>
          </p:cNvPr>
          <p:cNvSpPr/>
          <p:nvPr/>
        </p:nvSpPr>
        <p:spPr>
          <a:xfrm>
            <a:off x="1465510" y="4213770"/>
            <a:ext cx="6264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C328C8C3-1F37-4D99-AFB2-C6A27B588080}"/>
              </a:ext>
            </a:extLst>
          </p:cNvPr>
          <p:cNvSpPr/>
          <p:nvPr/>
        </p:nvSpPr>
        <p:spPr>
          <a:xfrm>
            <a:off x="7730132" y="4213770"/>
            <a:ext cx="3871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77D75FAD-5D65-4DD6-A259-4621BCEE8122}"/>
              </a:ext>
            </a:extLst>
          </p:cNvPr>
          <p:cNvSpPr/>
          <p:nvPr/>
        </p:nvSpPr>
        <p:spPr>
          <a:xfrm>
            <a:off x="590550" y="4870995"/>
            <a:ext cx="8749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619171E6-6D3B-4F17-B1F6-C8A226E14545}"/>
              </a:ext>
            </a:extLst>
          </p:cNvPr>
          <p:cNvSpPr/>
          <p:nvPr/>
        </p:nvSpPr>
        <p:spPr>
          <a:xfrm>
            <a:off x="1465510" y="4870995"/>
            <a:ext cx="62646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71B79B9C-261A-4399-80C9-07C9B563EFEB}"/>
              </a:ext>
            </a:extLst>
          </p:cNvPr>
          <p:cNvSpPr/>
          <p:nvPr/>
        </p:nvSpPr>
        <p:spPr>
          <a:xfrm>
            <a:off x="7730132" y="4870995"/>
            <a:ext cx="38713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40466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 dirty="0"/>
              <a:t>웹 서버 구조</a:t>
            </a:r>
            <a:endParaRPr dirty="0"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dirty="0"/>
              <a:t>DB 사용하는 경우 DB 접속과 </a:t>
            </a:r>
            <a:r>
              <a:rPr lang="ko-KR" dirty="0" err="1"/>
              <a:t>Query</a:t>
            </a:r>
            <a:r>
              <a:rPr lang="ko-KR" dirty="0"/>
              <a:t> 부분에 대한 설명</a:t>
            </a:r>
            <a:endParaRPr dirty="0"/>
          </a:p>
        </p:txBody>
      </p:sp>
      <p:pic>
        <p:nvPicPr>
          <p:cNvPr id="29" name="Picture 2" descr="image.png">
            <a:extLst>
              <a:ext uri="{FF2B5EF4-FFF2-40B4-BE49-F238E27FC236}">
                <a16:creationId xmlns:a16="http://schemas.microsoft.com/office/drawing/2014/main" id="{53E86163-DF4A-4BD4-BD80-48B074253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97" y="4220355"/>
            <a:ext cx="3549699" cy="2305050"/>
          </a:xfrm>
          <a:prstGeom prst="rect">
            <a:avLst/>
          </a:prstGeom>
        </p:spPr>
      </p:pic>
      <p:pic>
        <p:nvPicPr>
          <p:cNvPr id="30" name="Picture 3" descr="image.png">
            <a:extLst>
              <a:ext uri="{FF2B5EF4-FFF2-40B4-BE49-F238E27FC236}">
                <a16:creationId xmlns:a16="http://schemas.microsoft.com/office/drawing/2014/main" id="{2A73073C-DF3A-4FA0-82B8-7171E8E99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196" y="4220355"/>
            <a:ext cx="3549699" cy="2305050"/>
          </a:xfrm>
          <a:prstGeom prst="rect">
            <a:avLst/>
          </a:prstGeom>
        </p:spPr>
      </p:pic>
      <p:pic>
        <p:nvPicPr>
          <p:cNvPr id="31" name="Picture 4" descr="image.png">
            <a:extLst>
              <a:ext uri="{FF2B5EF4-FFF2-40B4-BE49-F238E27FC236}">
                <a16:creationId xmlns:a16="http://schemas.microsoft.com/office/drawing/2014/main" id="{E611AEB1-9A57-4738-AA32-CF23E539D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396" y="4220355"/>
            <a:ext cx="3549699" cy="2305050"/>
          </a:xfrm>
          <a:prstGeom prst="rect">
            <a:avLst/>
          </a:prstGeom>
        </p:spPr>
      </p:pic>
      <p:pic>
        <p:nvPicPr>
          <p:cNvPr id="32" name="Picture 5" descr="image.png">
            <a:extLst>
              <a:ext uri="{FF2B5EF4-FFF2-40B4-BE49-F238E27FC236}">
                <a16:creationId xmlns:a16="http://schemas.microsoft.com/office/drawing/2014/main" id="{03C2C33F-4A59-489C-BFB8-DBEBF6ABF9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22" y="4458480"/>
            <a:ext cx="457200" cy="457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CD0A692-26B3-4154-B6D7-FF9E2CDC96DD}"/>
              </a:ext>
            </a:extLst>
          </p:cNvPr>
          <p:cNvSpPr txBox="1"/>
          <p:nvPr/>
        </p:nvSpPr>
        <p:spPr>
          <a:xfrm>
            <a:off x="867122" y="502998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 dirty="0">
                <a:solidFill>
                  <a:srgbClr val="0F172A"/>
                </a:solidFill>
                <a:latin typeface="맑은 고딕" panose="020B0503020000020004" pitchFamily="50" charset="-127"/>
              </a:rPr>
              <a:t>SQL Injection </a:t>
            </a: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차단</a:t>
            </a:r>
            <a:endParaRPr sz="1500" b="1" i="0" u="none" dirty="0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99503D-F60C-43F5-AAD0-8E8D2D4A5202}"/>
              </a:ext>
            </a:extLst>
          </p:cNvPr>
          <p:cNvSpPr txBox="1"/>
          <p:nvPr/>
        </p:nvSpPr>
        <p:spPr>
          <a:xfrm>
            <a:off x="867122" y="5372880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원문 SQL String 조립을 철저히 배제하고 SQLAlchemy ORM Parameterized Query만 사용하여 SQL Injection 공격 원천 차단</a:t>
            </a:r>
          </a:p>
        </p:txBody>
      </p:sp>
      <p:pic>
        <p:nvPicPr>
          <p:cNvPr id="35" name="Picture 8" descr="image.png">
            <a:extLst>
              <a:ext uri="{FF2B5EF4-FFF2-40B4-BE49-F238E27FC236}">
                <a16:creationId xmlns:a16="http://schemas.microsoft.com/office/drawing/2014/main" id="{7A3FDA32-888B-4DC0-9731-F371014D3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7321" y="4458480"/>
            <a:ext cx="457200" cy="4572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BD3772D-E6F6-4C10-9AE5-DA82425313F3}"/>
              </a:ext>
            </a:extLst>
          </p:cNvPr>
          <p:cNvSpPr txBox="1"/>
          <p:nvPr/>
        </p:nvSpPr>
        <p:spPr>
          <a:xfrm>
            <a:off x="4607321" y="502998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메모리</a:t>
            </a:r>
            <a:r>
              <a:rPr sz="1500" b="1" i="0" u="none" dirty="0">
                <a:solidFill>
                  <a:srgbClr val="0F172A"/>
                </a:solidFill>
                <a:latin typeface="맑은 고딕" panose="020B0503020000020004" pitchFamily="50" charset="-127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기반</a:t>
            </a:r>
            <a:r>
              <a:rPr sz="1500" b="1" i="0" u="none" dirty="0">
                <a:solidFill>
                  <a:srgbClr val="0F172A"/>
                </a:solidFill>
                <a:latin typeface="맑은 고딕" panose="020B0503020000020004" pitchFamily="50" charset="-127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하이브리드</a:t>
            </a:r>
            <a:r>
              <a:rPr sz="1500" b="1" i="0" u="none" dirty="0">
                <a:solidFill>
                  <a:srgbClr val="0F172A"/>
                </a:solidFill>
                <a:latin typeface="맑은 고딕" panose="020B0503020000020004" pitchFamily="50" charset="-127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연산</a:t>
            </a:r>
            <a:endParaRPr sz="1500" b="1" i="0" u="none" dirty="0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3985D6-7E27-43CC-9A21-5432C0E0ADAE}"/>
              </a:ext>
            </a:extLst>
          </p:cNvPr>
          <p:cNvSpPr txBox="1"/>
          <p:nvPr/>
        </p:nvSpPr>
        <p:spPr>
          <a:xfrm>
            <a:off x="4607321" y="5372880"/>
            <a:ext cx="30734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실시간 집계가 필요한 영업 점포수는 DB Index Query로, 무거운 통계 집계는 인메모리 DataFrame 매칭으로 분산 처리하여 초고속 응답 보장</a:t>
            </a:r>
          </a:p>
        </p:txBody>
      </p:sp>
      <p:pic>
        <p:nvPicPr>
          <p:cNvPr id="38" name="Picture 11" descr="image.png">
            <a:extLst>
              <a:ext uri="{FF2B5EF4-FFF2-40B4-BE49-F238E27FC236}">
                <a16:creationId xmlns:a16="http://schemas.microsoft.com/office/drawing/2014/main" id="{1AC1DAC0-36D9-4D8F-BFA1-AE62F06A5F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7521" y="4458480"/>
            <a:ext cx="457200" cy="4572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98C1043-3FE9-47C9-BA65-E2CB3152EEDF}"/>
              </a:ext>
            </a:extLst>
          </p:cNvPr>
          <p:cNvSpPr txBox="1"/>
          <p:nvPr/>
        </p:nvSpPr>
        <p:spPr>
          <a:xfrm>
            <a:off x="8347521" y="5029980"/>
            <a:ext cx="322712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 dirty="0">
                <a:solidFill>
                  <a:srgbClr val="0F172A"/>
                </a:solidFill>
                <a:latin typeface="맑은 고딕" panose="020B0503020000020004" pitchFamily="50" charset="-127"/>
              </a:rPr>
              <a:t>CORS &amp; </a:t>
            </a: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에러</a:t>
            </a:r>
            <a:r>
              <a:rPr sz="1500" b="1" i="0" u="none" dirty="0">
                <a:solidFill>
                  <a:srgbClr val="0F172A"/>
                </a:solidFill>
                <a:latin typeface="맑은 고딕" panose="020B0503020000020004" pitchFamily="50" charset="-127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맑은 고딕" panose="020B0503020000020004" pitchFamily="50" charset="-127"/>
              </a:rPr>
              <a:t>핸들링</a:t>
            </a:r>
            <a:endParaRPr sz="1500" b="1" i="0" u="none" dirty="0">
              <a:solidFill>
                <a:srgbClr val="0F172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83DCD0-E863-49C9-AD94-FD369E2DA24A}"/>
              </a:ext>
            </a:extLst>
          </p:cNvPr>
          <p:cNvSpPr txBox="1"/>
          <p:nvPr/>
        </p:nvSpPr>
        <p:spPr>
          <a:xfrm>
            <a:off x="8347521" y="5372880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CORS Middleware 환경설정 분리와 존재하지 않는 데이터에 대한 HTTP 400 Bad Request, 500 예외의 명확한 전달 구조</a:t>
            </a:r>
          </a:p>
        </p:txBody>
      </p:sp>
      <p:pic>
        <p:nvPicPr>
          <p:cNvPr id="41" name="Picture 14" descr="image.png">
            <a:extLst>
              <a:ext uri="{FF2B5EF4-FFF2-40B4-BE49-F238E27FC236}">
                <a16:creationId xmlns:a16="http://schemas.microsoft.com/office/drawing/2014/main" id="{FA0F4E12-77FD-4414-A2AD-D5FEF2BB47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164" y="4582305"/>
            <a:ext cx="163115" cy="209550"/>
          </a:xfrm>
          <a:prstGeom prst="rect">
            <a:avLst/>
          </a:prstGeom>
        </p:spPr>
      </p:pic>
      <p:pic>
        <p:nvPicPr>
          <p:cNvPr id="42" name="Picture 15" descr="image.png">
            <a:extLst>
              <a:ext uri="{FF2B5EF4-FFF2-40B4-BE49-F238E27FC236}">
                <a16:creationId xmlns:a16="http://schemas.microsoft.com/office/drawing/2014/main" id="{451A30BE-7ED9-4967-9960-9EE111CC7B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363" y="4582305"/>
            <a:ext cx="163115" cy="209550"/>
          </a:xfrm>
          <a:prstGeom prst="rect">
            <a:avLst/>
          </a:prstGeom>
        </p:spPr>
      </p:pic>
      <p:pic>
        <p:nvPicPr>
          <p:cNvPr id="43" name="Picture 16" descr="image.png">
            <a:extLst>
              <a:ext uri="{FF2B5EF4-FFF2-40B4-BE49-F238E27FC236}">
                <a16:creationId xmlns:a16="http://schemas.microsoft.com/office/drawing/2014/main" id="{8A89362A-2871-46C4-940D-C8AC605C13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563" y="4582305"/>
            <a:ext cx="163115" cy="209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FDA0-21E7-4C91-B19E-572EE5F44B60}"/>
              </a:ext>
            </a:extLst>
          </p:cNvPr>
          <p:cNvSpPr txBox="1"/>
          <p:nvPr/>
        </p:nvSpPr>
        <p:spPr>
          <a:xfrm>
            <a:off x="867122" y="1870796"/>
            <a:ext cx="8622877" cy="2262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/>
              <a:t>SQLAlchemy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br>
              <a:rPr lang="en-US" altLang="ko-KR" sz="1600" dirty="0"/>
            </a:br>
            <a:r>
              <a:rPr lang="en-US" altLang="ko-KR" sz="1600" dirty="0"/>
              <a:t>1. SQL Injection </a:t>
            </a:r>
            <a:r>
              <a:rPr lang="ko-KR" altLang="en-US" sz="1600" dirty="0"/>
              <a:t>방지 및 보안성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2. </a:t>
            </a:r>
            <a:r>
              <a:rPr lang="ko-KR" altLang="en-US" sz="1600" dirty="0"/>
              <a:t>데이터베이스 종속성 제거 </a:t>
            </a:r>
            <a:r>
              <a:rPr lang="en-US" altLang="ko-KR" sz="1600" dirty="0"/>
              <a:t>(</a:t>
            </a:r>
            <a:r>
              <a:rPr lang="ko-KR" altLang="en-US" sz="1600" dirty="0"/>
              <a:t>유연한 </a:t>
            </a:r>
            <a:r>
              <a:rPr lang="en-US" altLang="ko-KR" sz="1600" dirty="0"/>
              <a:t>DB </a:t>
            </a:r>
            <a:r>
              <a:rPr lang="ko-KR" altLang="en-US" sz="1600" dirty="0"/>
              <a:t>전환</a:t>
            </a:r>
            <a:r>
              <a:rPr lang="en-US" altLang="ko-KR" sz="1600" dirty="0"/>
              <a:t>)</a:t>
            </a:r>
            <a:br>
              <a:rPr lang="en-US" altLang="ko-KR" sz="1600" dirty="0"/>
            </a:br>
            <a:r>
              <a:rPr lang="en-US" altLang="ko-KR" sz="1600" dirty="0"/>
              <a:t>3. </a:t>
            </a:r>
            <a:r>
              <a:rPr lang="ko-KR" altLang="en-US" sz="1600" dirty="0" err="1"/>
              <a:t>객체지향적인</a:t>
            </a:r>
            <a:r>
              <a:rPr lang="ko-KR" altLang="en-US" sz="1600" dirty="0"/>
              <a:t> 코드와 높은 생산성 </a:t>
            </a:r>
            <a:r>
              <a:rPr lang="en-US" altLang="ko-KR" sz="1600" dirty="0"/>
              <a:t>: DB </a:t>
            </a:r>
            <a:r>
              <a:rPr lang="ko-KR" altLang="en-US" sz="1600" dirty="0"/>
              <a:t>테이블을 </a:t>
            </a:r>
            <a:r>
              <a:rPr lang="ko-KR" altLang="en-US" sz="1600" dirty="0" err="1"/>
              <a:t>파이썬</a:t>
            </a:r>
            <a:r>
              <a:rPr lang="ko-KR" altLang="en-US" sz="1600" dirty="0"/>
              <a:t> 클래스로 관리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4. </a:t>
            </a:r>
            <a:r>
              <a:rPr lang="ko-KR" altLang="en-US" sz="1600" dirty="0"/>
              <a:t>복잡한 관계</a:t>
            </a:r>
            <a:r>
              <a:rPr lang="en-US" altLang="ko-KR" sz="1600" dirty="0"/>
              <a:t>(Relationship) </a:t>
            </a:r>
            <a:r>
              <a:rPr lang="ko-KR" altLang="en-US" sz="1600" dirty="0"/>
              <a:t>및 트랜잭션 자동화</a:t>
            </a:r>
            <a:br>
              <a:rPr lang="en-US" altLang="ko-KR" sz="1600" dirty="0"/>
            </a:br>
            <a:r>
              <a:rPr lang="en-US" altLang="ko-KR" sz="1600" dirty="0"/>
              <a:t>5. </a:t>
            </a:r>
            <a:r>
              <a:rPr lang="ko-KR" altLang="en-US" sz="1600" dirty="0"/>
              <a:t>계층적 구조 선택 가능 </a:t>
            </a:r>
            <a:r>
              <a:rPr lang="en-US" altLang="ko-KR" sz="1600" dirty="0"/>
              <a:t>(Core vs ORM)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59830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dirty="0"/>
              <a:t>DB 사용하는 경우 DB 접속과 </a:t>
            </a:r>
            <a:r>
              <a:rPr lang="ko-KR" dirty="0" err="1"/>
              <a:t>Query</a:t>
            </a:r>
            <a:r>
              <a:rPr lang="ko-KR" dirty="0"/>
              <a:t> 부분에 대한 설명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F80551-18D8-4207-A077-281AE464B641}"/>
              </a:ext>
            </a:extLst>
          </p:cNvPr>
          <p:cNvSpPr txBox="1"/>
          <p:nvPr/>
        </p:nvSpPr>
        <p:spPr>
          <a:xfrm>
            <a:off x="806026" y="2567503"/>
            <a:ext cx="5066453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class Gu(Base):</a:t>
            </a:r>
          </a:p>
          <a:p>
            <a:r>
              <a:rPr lang="en-US" altLang="ko-KR" dirty="0"/>
              <a:t>    __</a:t>
            </a:r>
            <a:r>
              <a:rPr lang="en-US" altLang="ko-KR" dirty="0" err="1"/>
              <a:t>tablename</a:t>
            </a:r>
            <a:r>
              <a:rPr lang="en-US" altLang="ko-KR" dirty="0"/>
              <a:t>__ = "</a:t>
            </a:r>
            <a:r>
              <a:rPr lang="en-US" altLang="ko-KR" dirty="0" err="1"/>
              <a:t>gu</a:t>
            </a:r>
            <a:r>
              <a:rPr lang="en-US" altLang="ko-KR" dirty="0"/>
              <a:t>"</a:t>
            </a:r>
          </a:p>
          <a:p>
            <a:br>
              <a:rPr lang="en-US" altLang="ko-KR" dirty="0"/>
            </a:br>
            <a:r>
              <a:rPr lang="en-US" altLang="ko-KR" dirty="0"/>
              <a:t>    </a:t>
            </a:r>
            <a:r>
              <a:rPr lang="en-US" altLang="ko-KR" dirty="0" err="1"/>
              <a:t>gu_id</a:t>
            </a:r>
            <a:r>
              <a:rPr lang="en-US" altLang="ko-KR" dirty="0"/>
              <a:t> = Column(Integer, </a:t>
            </a:r>
            <a:r>
              <a:rPr lang="en-US" altLang="ko-KR" dirty="0" err="1"/>
              <a:t>primary_key</a:t>
            </a:r>
            <a:r>
              <a:rPr lang="en-US" altLang="ko-KR" dirty="0"/>
              <a:t>=True)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gu_name</a:t>
            </a:r>
            <a:r>
              <a:rPr lang="en-US" altLang="ko-KR" dirty="0"/>
              <a:t> = Column(String, nullable=False, unique=True)</a:t>
            </a:r>
          </a:p>
          <a:p>
            <a:br>
              <a:rPr lang="en-US" altLang="ko-KR" dirty="0"/>
            </a:br>
            <a:r>
              <a:rPr lang="en-US" altLang="ko-KR" dirty="0"/>
              <a:t>    dongs = relationship(</a:t>
            </a:r>
          </a:p>
          <a:p>
            <a:r>
              <a:rPr lang="en-US" altLang="ko-KR" dirty="0"/>
              <a:t>        "Dong",</a:t>
            </a:r>
          </a:p>
          <a:p>
            <a:r>
              <a:rPr lang="en-US" altLang="ko-KR" dirty="0"/>
              <a:t>        </a:t>
            </a:r>
            <a:r>
              <a:rPr lang="en-US" altLang="ko-KR" dirty="0" err="1"/>
              <a:t>back_populates</a:t>
            </a:r>
            <a:r>
              <a:rPr lang="en-US" altLang="ko-KR" dirty="0"/>
              <a:t>="</a:t>
            </a:r>
            <a:r>
              <a:rPr lang="en-US" altLang="ko-KR" dirty="0" err="1"/>
              <a:t>gu</a:t>
            </a:r>
            <a:r>
              <a:rPr lang="en-US" altLang="ko-KR" dirty="0"/>
              <a:t>",</a:t>
            </a:r>
          </a:p>
          <a:p>
            <a:r>
              <a:rPr lang="en-US" altLang="ko-KR" dirty="0"/>
              <a:t>        cascade="all, delete-orphan"</a:t>
            </a:r>
          </a:p>
          <a:p>
            <a:r>
              <a:rPr lang="en-US" altLang="ko-KR" dirty="0"/>
              <a:t>    )</a:t>
            </a:r>
          </a:p>
          <a:p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3A26F-3CA5-4E7A-BB25-A8A67F50A230}"/>
              </a:ext>
            </a:extLst>
          </p:cNvPr>
          <p:cNvSpPr txBox="1"/>
          <p:nvPr/>
        </p:nvSpPr>
        <p:spPr>
          <a:xfrm>
            <a:off x="6319522" y="1998133"/>
            <a:ext cx="5154506" cy="46166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class Dong(Base):</a:t>
            </a:r>
          </a:p>
          <a:p>
            <a:r>
              <a:rPr lang="en-US" altLang="ko-KR" dirty="0"/>
              <a:t>    __</a:t>
            </a:r>
            <a:r>
              <a:rPr lang="en-US" altLang="ko-KR" dirty="0" err="1"/>
              <a:t>tablename</a:t>
            </a:r>
            <a:r>
              <a:rPr lang="en-US" altLang="ko-KR" dirty="0"/>
              <a:t>__ = "dong"</a:t>
            </a:r>
          </a:p>
          <a:p>
            <a:br>
              <a:rPr lang="en-US" altLang="ko-KR" dirty="0"/>
            </a:br>
            <a:r>
              <a:rPr lang="en-US" altLang="ko-KR" dirty="0"/>
              <a:t>    # </a:t>
            </a:r>
            <a:r>
              <a:rPr lang="en-US" altLang="ko-KR" dirty="0" err="1"/>
              <a:t>dong_id</a:t>
            </a:r>
            <a:r>
              <a:rPr lang="ko-KR" altLang="en-US" dirty="0"/>
              <a:t>가 전체에서 고유하다면 단일 </a:t>
            </a:r>
            <a:r>
              <a:rPr lang="en-US" altLang="ko-KR" dirty="0"/>
              <a:t>PK</a:t>
            </a:r>
            <a:r>
              <a:rPr lang="ko-KR" altLang="en-US" dirty="0"/>
              <a:t>로 설정</a:t>
            </a:r>
          </a:p>
          <a:p>
            <a:r>
              <a:rPr lang="ko-KR" altLang="en-US" dirty="0"/>
              <a:t>    </a:t>
            </a:r>
            <a:r>
              <a:rPr lang="en-US" altLang="ko-KR" dirty="0" err="1"/>
              <a:t>dong_id</a:t>
            </a:r>
            <a:r>
              <a:rPr lang="en-US" altLang="ko-KR" dirty="0"/>
              <a:t> = Column(Integer, </a:t>
            </a:r>
            <a:r>
              <a:rPr lang="en-US" altLang="ko-KR" dirty="0" err="1"/>
              <a:t>primary_key</a:t>
            </a:r>
            <a:r>
              <a:rPr lang="en-US" altLang="ko-KR" dirty="0"/>
              <a:t>=True)</a:t>
            </a:r>
          </a:p>
          <a:p>
            <a:br>
              <a:rPr lang="en-US" altLang="ko-KR" dirty="0"/>
            </a:br>
            <a:r>
              <a:rPr lang="en-US" altLang="ko-KR" dirty="0"/>
              <a:t>    </a:t>
            </a:r>
            <a:r>
              <a:rPr lang="en-US" altLang="ko-KR" dirty="0" err="1"/>
              <a:t>gu_id</a:t>
            </a:r>
            <a:r>
              <a:rPr lang="en-US" altLang="ko-KR" dirty="0"/>
              <a:t> = Column(</a:t>
            </a:r>
          </a:p>
          <a:p>
            <a:r>
              <a:rPr lang="en-US" altLang="ko-KR" dirty="0"/>
              <a:t>        Integer,</a:t>
            </a:r>
          </a:p>
          <a:p>
            <a:r>
              <a:rPr lang="en-US" altLang="ko-KR" dirty="0"/>
              <a:t>        </a:t>
            </a:r>
            <a:r>
              <a:rPr lang="en-US" altLang="ko-KR" dirty="0" err="1"/>
              <a:t>ForeignKey</a:t>
            </a:r>
            <a:r>
              <a:rPr lang="en-US" altLang="ko-KR" dirty="0"/>
              <a:t>("</a:t>
            </a:r>
            <a:r>
              <a:rPr lang="en-US" altLang="ko-KR" dirty="0" err="1"/>
              <a:t>gu.gu_id</a:t>
            </a:r>
            <a:r>
              <a:rPr lang="en-US" altLang="ko-KR" dirty="0"/>
              <a:t>"),</a:t>
            </a:r>
          </a:p>
          <a:p>
            <a:r>
              <a:rPr lang="en-US" altLang="ko-KR" dirty="0"/>
              <a:t>        nullable=False,</a:t>
            </a:r>
          </a:p>
          <a:p>
            <a:r>
              <a:rPr lang="en-US" altLang="ko-KR" dirty="0"/>
              <a:t>        index=True</a:t>
            </a:r>
          </a:p>
          <a:p>
            <a:r>
              <a:rPr lang="en-US" altLang="ko-KR" dirty="0"/>
              <a:t>    )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dong_name</a:t>
            </a:r>
            <a:r>
              <a:rPr lang="en-US" altLang="ko-KR" dirty="0"/>
              <a:t> = Column(String, nullable=False, index=True)</a:t>
            </a:r>
          </a:p>
          <a:p>
            <a:br>
              <a:rPr lang="en-US" altLang="ko-KR" dirty="0"/>
            </a:br>
            <a:r>
              <a:rPr lang="en-US" altLang="ko-KR" dirty="0"/>
              <a:t>    </a:t>
            </a:r>
            <a:r>
              <a:rPr lang="en-US" altLang="ko-KR" dirty="0" err="1"/>
              <a:t>gu</a:t>
            </a:r>
            <a:r>
              <a:rPr lang="en-US" altLang="ko-KR" dirty="0"/>
              <a:t> = relationship("Gu", </a:t>
            </a:r>
            <a:r>
              <a:rPr lang="en-US" altLang="ko-KR" dirty="0" err="1"/>
              <a:t>back_populates</a:t>
            </a:r>
            <a:r>
              <a:rPr lang="en-US" altLang="ko-KR" dirty="0"/>
              <a:t>="dongs")</a:t>
            </a:r>
          </a:p>
          <a:p>
            <a:br>
              <a:rPr lang="en-US" altLang="ko-KR" dirty="0"/>
            </a:br>
            <a:r>
              <a:rPr lang="en-US" altLang="ko-KR" dirty="0"/>
              <a:t>    businesses = relationship(</a:t>
            </a:r>
          </a:p>
          <a:p>
            <a:r>
              <a:rPr lang="en-US" altLang="ko-KR" dirty="0"/>
              <a:t>        "Business",</a:t>
            </a:r>
          </a:p>
          <a:p>
            <a:r>
              <a:rPr lang="en-US" altLang="ko-KR" dirty="0"/>
              <a:t>        </a:t>
            </a:r>
            <a:r>
              <a:rPr lang="en-US" altLang="ko-KR" dirty="0" err="1"/>
              <a:t>back_populates</a:t>
            </a:r>
            <a:r>
              <a:rPr lang="en-US" altLang="ko-KR" dirty="0"/>
              <a:t>="dong"</a:t>
            </a:r>
          </a:p>
          <a:p>
            <a:r>
              <a:rPr lang="en-US" altLang="ko-KR" dirty="0"/>
              <a:t>    )</a:t>
            </a:r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C85B6-73DE-4179-BA2A-4B69F3A4DEFE}"/>
              </a:ext>
            </a:extLst>
          </p:cNvPr>
          <p:cNvSpPr txBox="1"/>
          <p:nvPr/>
        </p:nvSpPr>
        <p:spPr>
          <a:xfrm>
            <a:off x="860213" y="1998133"/>
            <a:ext cx="5012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334155"/>
                </a:solidFill>
                <a:latin typeface="Noto Sans KR"/>
              </a:rPr>
              <a:t>SQLAlchemy</a:t>
            </a:r>
            <a:r>
              <a:rPr lang="en-US" altLang="ko-KR" dirty="0">
                <a:solidFill>
                  <a:srgbClr val="334155"/>
                </a:solidFill>
                <a:latin typeface="Noto Sans KR"/>
              </a:rPr>
              <a:t> </a:t>
            </a:r>
            <a:r>
              <a:rPr lang="ko-KR" altLang="en-US" dirty="0">
                <a:solidFill>
                  <a:srgbClr val="334155"/>
                </a:solidFill>
                <a:latin typeface="Noto Sans KR"/>
              </a:rPr>
              <a:t>사용 예제 </a:t>
            </a:r>
            <a:r>
              <a:rPr lang="en-US" altLang="ko-KR" dirty="0">
                <a:solidFill>
                  <a:srgbClr val="334155"/>
                </a:solidFill>
                <a:latin typeface="Noto Sans KR"/>
              </a:rPr>
              <a:t>-&gt; DB</a:t>
            </a:r>
            <a:r>
              <a:rPr lang="ko-KR" altLang="en-US" dirty="0">
                <a:solidFill>
                  <a:srgbClr val="334155"/>
                </a:solidFill>
                <a:latin typeface="Noto Sans KR"/>
              </a:rPr>
              <a:t>의 </a:t>
            </a:r>
            <a:r>
              <a:rPr lang="en-US" altLang="ko-KR" dirty="0">
                <a:solidFill>
                  <a:srgbClr val="334155"/>
                </a:solidFill>
                <a:latin typeface="Noto Sans KR"/>
              </a:rPr>
              <a:t>class</a:t>
            </a:r>
            <a:r>
              <a:rPr lang="ko-KR" altLang="en-US" dirty="0">
                <a:solidFill>
                  <a:srgbClr val="334155"/>
                </a:solidFill>
                <a:latin typeface="Noto Sans KR"/>
              </a:rPr>
              <a:t>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599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ko-KR"/>
              <a:t>웹 서버 구조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628997" y="1331650"/>
            <a:ext cx="10848109" cy="66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ko-KR" dirty="0"/>
              <a:t>DB 사용하는 경우 DB 접속과 </a:t>
            </a:r>
            <a:r>
              <a:rPr lang="ko-KR" dirty="0" err="1"/>
              <a:t>Query</a:t>
            </a:r>
            <a:r>
              <a:rPr lang="ko-KR" dirty="0"/>
              <a:t> 부분에 대한 설명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F80551-18D8-4207-A077-281AE464B641}"/>
              </a:ext>
            </a:extLst>
          </p:cNvPr>
          <p:cNvSpPr txBox="1"/>
          <p:nvPr/>
        </p:nvSpPr>
        <p:spPr>
          <a:xfrm>
            <a:off x="887307" y="2228427"/>
            <a:ext cx="4842933" cy="37240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334155"/>
                </a:solidFill>
                <a:latin typeface="Noto Sans KR"/>
              </a:rPr>
              <a:t>SQLAlchemy</a:t>
            </a:r>
            <a:r>
              <a:rPr lang="en-US" altLang="ko-KR" dirty="0">
                <a:solidFill>
                  <a:srgbClr val="334155"/>
                </a:solidFill>
                <a:latin typeface="Noto Sans KR"/>
              </a:rPr>
              <a:t> </a:t>
            </a:r>
            <a:r>
              <a:rPr lang="ko-KR" altLang="en-US" dirty="0">
                <a:solidFill>
                  <a:srgbClr val="334155"/>
                </a:solidFill>
                <a:latin typeface="Noto Sans KR"/>
              </a:rPr>
              <a:t>사용 예제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1600" dirty="0"/>
              <a:t>@</a:t>
            </a:r>
            <a:r>
              <a:rPr lang="en-US" altLang="ko-KR" sz="1600" dirty="0" err="1"/>
              <a:t>app.get</a:t>
            </a:r>
            <a:r>
              <a:rPr lang="en-US" altLang="ko-KR" sz="1600" dirty="0"/>
              <a:t>("/</a:t>
            </a:r>
            <a:r>
              <a:rPr lang="en-US" altLang="ko-KR" sz="1600" dirty="0" err="1"/>
              <a:t>api</a:t>
            </a:r>
            <a:r>
              <a:rPr lang="en-US" altLang="ko-KR" sz="1600" dirty="0"/>
              <a:t>/dong", </a:t>
            </a:r>
            <a:r>
              <a:rPr lang="en-US" altLang="ko-KR" sz="1600" dirty="0" err="1"/>
              <a:t>response_model</a:t>
            </a:r>
            <a:r>
              <a:rPr lang="en-US" altLang="ko-KR" sz="1600" dirty="0"/>
              <a:t>=List[str])</a:t>
            </a:r>
          </a:p>
          <a:p>
            <a:r>
              <a:rPr lang="en-US" altLang="ko-KR" sz="1600" dirty="0"/>
              <a:t>def </a:t>
            </a:r>
            <a:r>
              <a:rPr lang="en-US" altLang="ko-KR" sz="1600" dirty="0" err="1"/>
              <a:t>get_dong_list</a:t>
            </a:r>
            <a:r>
              <a:rPr lang="en-US" altLang="ko-KR" sz="1600" dirty="0"/>
              <a:t>(</a:t>
            </a:r>
          </a:p>
          <a:p>
            <a:r>
              <a:rPr lang="en-US" altLang="ko-KR" sz="1600" dirty="0"/>
              <a:t>    </a:t>
            </a:r>
            <a:r>
              <a:rPr lang="en-US" altLang="ko-KR" sz="1600" dirty="0" err="1"/>
              <a:t>gu</a:t>
            </a:r>
            <a:r>
              <a:rPr lang="en-US" altLang="ko-KR" sz="1600" dirty="0"/>
              <a:t>: str = Query(..., </a:t>
            </a:r>
            <a:r>
              <a:rPr lang="en-US" altLang="ko-KR" sz="1600" dirty="0" err="1"/>
              <a:t>min_length</a:t>
            </a:r>
            <a:r>
              <a:rPr lang="en-US" altLang="ko-KR" sz="1600" dirty="0"/>
              <a:t>=1),</a:t>
            </a:r>
          </a:p>
          <a:p>
            <a:r>
              <a:rPr lang="en-US" altLang="ko-KR" sz="1600" dirty="0"/>
              <a:t>    </a:t>
            </a:r>
            <a:r>
              <a:rPr lang="en-US" altLang="ko-KR" sz="1600" dirty="0" err="1"/>
              <a:t>db</a:t>
            </a:r>
            <a:r>
              <a:rPr lang="en-US" altLang="ko-KR" sz="1600" dirty="0"/>
              <a:t>: Session = Depends(</a:t>
            </a:r>
            <a:r>
              <a:rPr lang="en-US" altLang="ko-KR" sz="1600" dirty="0" err="1"/>
              <a:t>get_db</a:t>
            </a:r>
            <a:r>
              <a:rPr lang="en-US" altLang="ko-KR" sz="1600" dirty="0"/>
              <a:t>),</a:t>
            </a:r>
          </a:p>
          <a:p>
            <a:r>
              <a:rPr lang="en-US" altLang="ko-KR" sz="1600" dirty="0"/>
              <a:t>):</a:t>
            </a:r>
          </a:p>
          <a:p>
            <a:r>
              <a:rPr lang="en-US" altLang="ko-KR" sz="1600" dirty="0"/>
              <a:t>    rows = (</a:t>
            </a:r>
          </a:p>
          <a:p>
            <a:r>
              <a:rPr lang="en-US" altLang="ko-KR" sz="1600" dirty="0"/>
              <a:t>        </a:t>
            </a:r>
            <a:r>
              <a:rPr lang="en-US" altLang="ko-KR" sz="1600" dirty="0" err="1"/>
              <a:t>db.query</a:t>
            </a:r>
            <a:r>
              <a:rPr lang="en-US" altLang="ko-KR" sz="1600" dirty="0"/>
              <a:t>(distinct(</a:t>
            </a:r>
            <a:r>
              <a:rPr lang="en-US" altLang="ko-KR" sz="1600" dirty="0" err="1"/>
              <a:t>Dong.dong_name</a:t>
            </a:r>
            <a:r>
              <a:rPr lang="en-US" altLang="ko-KR" sz="1600" dirty="0"/>
              <a:t>))</a:t>
            </a:r>
          </a:p>
          <a:p>
            <a:r>
              <a:rPr lang="en-US" altLang="ko-KR" sz="1600" dirty="0"/>
              <a:t>        .join(Gu, </a:t>
            </a:r>
            <a:r>
              <a:rPr lang="en-US" altLang="ko-KR" sz="1600" dirty="0" err="1"/>
              <a:t>Dong.gu_id</a:t>
            </a:r>
            <a:r>
              <a:rPr lang="en-US" altLang="ko-KR" sz="1600" dirty="0"/>
              <a:t> == </a:t>
            </a:r>
            <a:r>
              <a:rPr lang="en-US" altLang="ko-KR" sz="1600" dirty="0" err="1"/>
              <a:t>Gu.gu_id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        .filter(</a:t>
            </a:r>
            <a:r>
              <a:rPr lang="en-US" altLang="ko-KR" sz="1600" dirty="0" err="1"/>
              <a:t>Gu.gu_name</a:t>
            </a:r>
            <a:r>
              <a:rPr lang="en-US" altLang="ko-KR" sz="1600" dirty="0"/>
              <a:t> == </a:t>
            </a:r>
            <a:r>
              <a:rPr lang="en-US" altLang="ko-KR" sz="1600" dirty="0" err="1"/>
              <a:t>gu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        .</a:t>
            </a:r>
            <a:r>
              <a:rPr lang="en-US" altLang="ko-KR" sz="1600" dirty="0" err="1"/>
              <a:t>order_by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Dong.dong_name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        .all()</a:t>
            </a:r>
          </a:p>
          <a:p>
            <a:r>
              <a:rPr lang="en-US" altLang="ko-KR" sz="1600" dirty="0"/>
              <a:t>    )</a:t>
            </a:r>
          </a:p>
          <a:p>
            <a:r>
              <a:rPr lang="en-US" altLang="ko-KR" sz="1600" dirty="0"/>
              <a:t>    return [row[0] for row in rows]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6CE9B-FD6F-49D5-A25D-F68DA17D2E8B}"/>
              </a:ext>
            </a:extLst>
          </p:cNvPr>
          <p:cNvSpPr txBox="1"/>
          <p:nvPr/>
        </p:nvSpPr>
        <p:spPr>
          <a:xfrm>
            <a:off x="6339840" y="2228427"/>
            <a:ext cx="4233333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SQL </a:t>
            </a:r>
            <a:r>
              <a:rPr lang="ko-KR" altLang="en-US" dirty="0"/>
              <a:t>문 사용시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SELECT DISTINCT </a:t>
            </a:r>
            <a:r>
              <a:rPr lang="en-US" altLang="ko-KR" dirty="0" err="1"/>
              <a:t>dong.dong_name</a:t>
            </a:r>
            <a:r>
              <a:rPr lang="en-US" altLang="ko-KR" dirty="0"/>
              <a:t> FROM dong JOIN </a:t>
            </a:r>
            <a:r>
              <a:rPr lang="en-US" altLang="ko-KR" dirty="0" err="1"/>
              <a:t>gu</a:t>
            </a:r>
            <a:r>
              <a:rPr lang="en-US" altLang="ko-KR" dirty="0"/>
              <a:t> ON </a:t>
            </a:r>
            <a:r>
              <a:rPr lang="en-US" altLang="ko-KR" dirty="0" err="1"/>
              <a:t>dong.gu_id</a:t>
            </a:r>
            <a:r>
              <a:rPr lang="en-US" altLang="ko-KR" dirty="0"/>
              <a:t> = </a:t>
            </a:r>
            <a:r>
              <a:rPr lang="en-US" altLang="ko-KR" dirty="0" err="1"/>
              <a:t>gu.gu_id</a:t>
            </a:r>
            <a:r>
              <a:rPr lang="en-US" altLang="ko-KR" dirty="0"/>
              <a:t> WHERE </a:t>
            </a:r>
            <a:r>
              <a:rPr lang="en-US" altLang="ko-KR" dirty="0" err="1"/>
              <a:t>gu.gu_name</a:t>
            </a:r>
            <a:r>
              <a:rPr lang="en-US" altLang="ko-KR" dirty="0"/>
              <a:t> = ‘</a:t>
            </a:r>
            <a:r>
              <a:rPr lang="ko-KR" altLang="en-US" dirty="0"/>
              <a:t>강남구</a:t>
            </a:r>
            <a:r>
              <a:rPr lang="en-US" altLang="ko-KR" dirty="0"/>
              <a:t>' ORDER BY </a:t>
            </a:r>
            <a:r>
              <a:rPr lang="en-US" altLang="ko-KR" dirty="0" err="1"/>
              <a:t>dong.dong_name</a:t>
            </a:r>
            <a:r>
              <a:rPr lang="en-US" altLang="ko-KR" dirty="0"/>
              <a:t> ASC;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715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>
            <a:spLocks noGrp="1"/>
          </p:cNvSpPr>
          <p:nvPr>
            <p:ph type="title"/>
          </p:nvPr>
        </p:nvSpPr>
        <p:spPr>
          <a:xfrm>
            <a:off x="628997" y="433382"/>
            <a:ext cx="10848109" cy="61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ko-KR" dirty="0"/>
              <a:t>사용자 인터페이스 (UI)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38CC3C-981C-411B-809C-54F2BB2BD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97" y="1598084"/>
            <a:ext cx="7041803" cy="504311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CE4E9D-2801-4825-AF89-220F1F984EAC}"/>
              </a:ext>
            </a:extLst>
          </p:cNvPr>
          <p:cNvSpPr/>
          <p:nvPr/>
        </p:nvSpPr>
        <p:spPr>
          <a:xfrm>
            <a:off x="628997" y="4780826"/>
            <a:ext cx="19908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b="1" dirty="0">
              <a:latin typeface="Abadi" panose="020B0604020104020204" pitchFamily="34" charset="0"/>
            </a:endParaRPr>
          </a:p>
        </p:txBody>
      </p:sp>
      <p:sp>
        <p:nvSpPr>
          <p:cNvPr id="6" name="Google Shape;133;p11">
            <a:extLst>
              <a:ext uri="{FF2B5EF4-FFF2-40B4-BE49-F238E27FC236}">
                <a16:creationId xmlns:a16="http://schemas.microsoft.com/office/drawing/2014/main" id="{22FD9B9C-5EB4-4627-96D1-37122C40B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996" y="1169925"/>
            <a:ext cx="10848109" cy="39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ko-KR" altLang="en-US" dirty="0"/>
              <a:t>최초 컨셉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A2554-E5F2-4F60-95D5-2CD6422EACF5}"/>
              </a:ext>
            </a:extLst>
          </p:cNvPr>
          <p:cNvSpPr txBox="1"/>
          <p:nvPr/>
        </p:nvSpPr>
        <p:spPr>
          <a:xfrm>
            <a:off x="7918026" y="2076931"/>
            <a:ext cx="3461173" cy="1143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  <a:ea typeface="+mn-ea"/>
              </a:rPr>
              <a:t>□ 초기 기획</a:t>
            </a:r>
            <a:endParaRPr lang="en-US" altLang="ko-KR" sz="16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dirty="0">
                <a:latin typeface="+mn-ea"/>
                <a:ea typeface="+mn-ea"/>
              </a:rPr>
              <a:t>지도 시각화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복잡한 </a:t>
            </a:r>
            <a:r>
              <a:rPr lang="ko-KR" altLang="en-US" dirty="0" err="1">
                <a:latin typeface="+mn-ea"/>
                <a:ea typeface="+mn-ea"/>
              </a:rPr>
              <a:t>조건별</a:t>
            </a:r>
            <a:r>
              <a:rPr lang="ko-KR" altLang="en-US" dirty="0">
                <a:latin typeface="+mn-ea"/>
                <a:ea typeface="+mn-ea"/>
              </a:rPr>
              <a:t> 가상 시뮬레이션 등 다채로운 뼈대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E137D-0531-45C8-8B1E-234A4EED22EF}"/>
              </a:ext>
            </a:extLst>
          </p:cNvPr>
          <p:cNvSpPr txBox="1"/>
          <p:nvPr/>
        </p:nvSpPr>
        <p:spPr>
          <a:xfrm>
            <a:off x="7918026" y="3753634"/>
            <a:ext cx="3305386" cy="1789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n-ea"/>
                <a:ea typeface="+mn-ea"/>
              </a:rPr>
              <a:t>□ 최적화 배경</a:t>
            </a:r>
            <a:endParaRPr lang="en-US" altLang="ko-KR" sz="16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dirty="0">
                <a:latin typeface="+mn-ea"/>
                <a:ea typeface="+mn-ea"/>
              </a:rPr>
              <a:t>보유 데이터셋으로 구현가능한 정확도와 범위를 고려하여 실현 불가능한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를 배제하고 핵심 예측 기능 위주로 재설계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39ADE-5E1F-4F10-9280-5144638D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사용자 인터페이스 (UI)</a:t>
            </a:r>
            <a:endParaRPr lang="ko-KR" altLang="en-US" dirty="0"/>
          </a:p>
        </p:txBody>
      </p:sp>
      <p:sp>
        <p:nvSpPr>
          <p:cNvPr id="5" name="Google Shape;133;p11">
            <a:extLst>
              <a:ext uri="{FF2B5EF4-FFF2-40B4-BE49-F238E27FC236}">
                <a16:creationId xmlns:a16="http://schemas.microsoft.com/office/drawing/2014/main" id="{597371EF-6BA5-4498-8E0E-6B7E9E08DA0F}"/>
              </a:ext>
            </a:extLst>
          </p:cNvPr>
          <p:cNvSpPr txBox="1">
            <a:spLocks/>
          </p:cNvSpPr>
          <p:nvPr/>
        </p:nvSpPr>
        <p:spPr>
          <a:xfrm>
            <a:off x="628996" y="1169925"/>
            <a:ext cx="10848109" cy="39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indent="-182880">
              <a:lnSpc>
                <a:spcPct val="90000"/>
              </a:lnSpc>
              <a:buSzPts val="2000"/>
              <a:buFont typeface="Arial"/>
              <a:buChar char="●"/>
            </a:pPr>
            <a:r>
              <a:rPr lang="ko-KR" altLang="en-US" dirty="0"/>
              <a:t>최종 </a:t>
            </a:r>
            <a:r>
              <a:rPr lang="en-US" altLang="ko-KR" dirty="0"/>
              <a:t>UI </a:t>
            </a:r>
            <a:r>
              <a:rPr lang="ko-KR" altLang="en-US" dirty="0"/>
              <a:t>및 업무 분담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089051-FC39-47FA-A1A4-A5F06604AB5C}"/>
              </a:ext>
            </a:extLst>
          </p:cNvPr>
          <p:cNvSpPr/>
          <p:nvPr/>
        </p:nvSpPr>
        <p:spPr>
          <a:xfrm>
            <a:off x="671945" y="1490134"/>
            <a:ext cx="10848109" cy="37056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D0BB38-2A6D-455F-BA09-F54E8E39B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26" y="1840940"/>
            <a:ext cx="5145194" cy="32398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302C7F1-4AA0-4EBC-B2C0-4FF242231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502" y="1840940"/>
            <a:ext cx="5477087" cy="3239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9B649B-9842-45C7-8D6C-EF662FAC54E2}"/>
              </a:ext>
            </a:extLst>
          </p:cNvPr>
          <p:cNvSpPr txBox="1"/>
          <p:nvPr/>
        </p:nvSpPr>
        <p:spPr>
          <a:xfrm>
            <a:off x="8486987" y="1543901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2"/>
                </a:solidFill>
                <a:latin typeface="+mn-ea"/>
                <a:ea typeface="+mn-ea"/>
              </a:rPr>
              <a:t>다크</a:t>
            </a:r>
            <a:r>
              <a:rPr lang="ko-KR" altLang="en-US" b="1" dirty="0">
                <a:solidFill>
                  <a:schemeClr val="bg2"/>
                </a:solidFill>
                <a:latin typeface="+mn-ea"/>
                <a:ea typeface="+mn-ea"/>
              </a:rPr>
              <a:t> 모드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B0A15-0E63-4F24-AE6E-76A32EAA58A5}"/>
              </a:ext>
            </a:extLst>
          </p:cNvPr>
          <p:cNvSpPr txBox="1"/>
          <p:nvPr/>
        </p:nvSpPr>
        <p:spPr>
          <a:xfrm>
            <a:off x="2770294" y="1543902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2"/>
                </a:solidFill>
                <a:latin typeface="+mn-ea"/>
                <a:ea typeface="+mn-ea"/>
              </a:rPr>
              <a:t>화이트 모드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75309-17CD-43CF-8D9B-6A0D5B62DCC5}"/>
              </a:ext>
            </a:extLst>
          </p:cNvPr>
          <p:cNvSpPr txBox="1"/>
          <p:nvPr/>
        </p:nvSpPr>
        <p:spPr>
          <a:xfrm>
            <a:off x="671945" y="5241525"/>
            <a:ext cx="1084810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스트림릿</a:t>
            </a:r>
            <a:r>
              <a:rPr lang="ko-KR" altLang="en-US" b="1" dirty="0"/>
              <a:t> 개발 방법</a:t>
            </a:r>
            <a:endParaRPr lang="en-US" altLang="ko-KR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ko-KR" dirty="0"/>
              <a:t>Front – Back end </a:t>
            </a:r>
            <a:r>
              <a:rPr lang="ko-KR" altLang="en-US" dirty="0"/>
              <a:t>동시 개발 진행</a:t>
            </a:r>
            <a:endParaRPr lang="en-US" altLang="ko-KR" dirty="0"/>
          </a:p>
          <a:p>
            <a:pPr marL="446088" indent="-176213">
              <a:buFont typeface="Wingdings" panose="05000000000000000000" pitchFamily="2" charset="2"/>
              <a:buChar char="§"/>
            </a:pPr>
            <a:r>
              <a:rPr lang="ko-KR" altLang="en-US" dirty="0" err="1"/>
              <a:t>목업데이터</a:t>
            </a:r>
            <a:r>
              <a:rPr lang="ko-KR" altLang="en-US" dirty="0"/>
              <a:t> 활용하여 </a:t>
            </a:r>
            <a:r>
              <a:rPr lang="ko-KR" altLang="en-US" dirty="0" err="1"/>
              <a:t>스트림릿</a:t>
            </a:r>
            <a:r>
              <a:rPr lang="ko-KR" altLang="en-US" dirty="0"/>
              <a:t> </a:t>
            </a:r>
            <a:r>
              <a:rPr lang="ko-KR" altLang="en-US" dirty="0" err="1"/>
              <a:t>개발시</a:t>
            </a:r>
            <a:r>
              <a:rPr lang="ko-KR" altLang="en-US" dirty="0"/>
              <a:t> 자체적으로 화면 검증 후 </a:t>
            </a:r>
            <a:r>
              <a:rPr lang="en-US" altLang="ko-KR" dirty="0"/>
              <a:t>Fast API </a:t>
            </a:r>
            <a:r>
              <a:rPr lang="ko-KR" altLang="en-US" dirty="0"/>
              <a:t>개발 완료 시점에 상호 연동을 통해 통합화 수행</a:t>
            </a:r>
            <a:endParaRPr lang="en-US" altLang="ko-KR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ko-KR" altLang="en-US" dirty="0"/>
              <a:t>좌측 입력부는 질문형 입력방식 설계</a:t>
            </a:r>
            <a:r>
              <a:rPr lang="en-US" altLang="ko-KR" dirty="0"/>
              <a:t>, </a:t>
            </a:r>
            <a:r>
              <a:rPr lang="ko-KR" altLang="en-US" dirty="0"/>
              <a:t>행정구역</a:t>
            </a:r>
            <a:r>
              <a:rPr lang="en-US" altLang="ko-KR" dirty="0"/>
              <a:t>(</a:t>
            </a:r>
            <a:r>
              <a:rPr lang="ko-KR" altLang="en-US" dirty="0"/>
              <a:t>구</a:t>
            </a:r>
            <a:r>
              <a:rPr lang="en-US" altLang="ko-KR" dirty="0"/>
              <a:t>-</a:t>
            </a:r>
            <a:r>
              <a:rPr lang="ko-KR" altLang="en-US" dirty="0"/>
              <a:t>동</a:t>
            </a:r>
            <a:r>
              <a:rPr lang="en-US" altLang="ko-KR" dirty="0"/>
              <a:t>) </a:t>
            </a:r>
            <a:r>
              <a:rPr lang="ko-KR" altLang="en-US" dirty="0"/>
              <a:t>동적 카테고리 필터링</a:t>
            </a:r>
            <a:r>
              <a:rPr lang="en-US" altLang="ko-KR" dirty="0"/>
              <a:t>, </a:t>
            </a:r>
            <a:r>
              <a:rPr lang="ko-KR" altLang="en-US" dirty="0"/>
              <a:t>면적</a:t>
            </a:r>
            <a:r>
              <a:rPr lang="en-US" altLang="ko-KR" dirty="0"/>
              <a:t>.</a:t>
            </a:r>
            <a:r>
              <a:rPr lang="ko-KR" altLang="en-US" dirty="0"/>
              <a:t>인원 </a:t>
            </a:r>
            <a:r>
              <a:rPr lang="en-US" altLang="ko-KR" dirty="0"/>
              <a:t>Min/Max </a:t>
            </a:r>
            <a:r>
              <a:rPr lang="ko-KR" altLang="en-US" dirty="0"/>
              <a:t>유효성 검증 구현</a:t>
            </a:r>
            <a:endParaRPr lang="en-US" altLang="ko-KR" dirty="0"/>
          </a:p>
          <a:p>
            <a:pPr marL="446088" indent="-176213">
              <a:buFont typeface="Wingdings" panose="05000000000000000000" pitchFamily="2" charset="2"/>
              <a:buChar char="§"/>
            </a:pPr>
            <a:r>
              <a:rPr lang="ko-KR" altLang="en-US" b="1" dirty="0"/>
              <a:t>추론을 위한 </a:t>
            </a:r>
            <a:r>
              <a:rPr lang="ko-KR" altLang="en-US" b="1" dirty="0" err="1"/>
              <a:t>입력부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좌측</a:t>
            </a:r>
            <a:r>
              <a:rPr lang="en-US" altLang="ko-KR" b="1" dirty="0"/>
              <a:t>)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3C3939"/>
                </a:solidFill>
                <a:latin typeface="+mn-lt"/>
                <a:cs typeface="Roboto" pitchFamily="34" charset="-120"/>
              </a:rPr>
              <a:t>질문형 입력 방식, 행정구역(구-동) 동적 카테고리 필터링, </a:t>
            </a:r>
            <a:r>
              <a:rPr lang="ko-KR" altLang="en-US" dirty="0" err="1">
                <a:solidFill>
                  <a:srgbClr val="3C3939"/>
                </a:solidFill>
                <a:latin typeface="+mn-lt"/>
                <a:cs typeface="Roboto" pitchFamily="34" charset="-120"/>
              </a:rPr>
              <a:t>면적·인원</a:t>
            </a:r>
            <a:r>
              <a:rPr lang="ko-KR" altLang="en-US" dirty="0">
                <a:solidFill>
                  <a:srgbClr val="3C3939"/>
                </a:solidFill>
                <a:latin typeface="+mn-lt"/>
                <a:cs typeface="Roboto" pitchFamily="34" charset="-120"/>
              </a:rPr>
              <a:t> </a:t>
            </a:r>
            <a:r>
              <a:rPr lang="ko-KR" altLang="en-US" dirty="0" err="1">
                <a:solidFill>
                  <a:srgbClr val="3C3939"/>
                </a:solidFill>
                <a:latin typeface="+mn-lt"/>
                <a:cs typeface="Roboto" pitchFamily="34" charset="-120"/>
              </a:rPr>
              <a:t>Min</a:t>
            </a:r>
            <a:r>
              <a:rPr lang="ko-KR" altLang="en-US" dirty="0">
                <a:solidFill>
                  <a:srgbClr val="3C3939"/>
                </a:solidFill>
                <a:latin typeface="+mn-lt"/>
                <a:cs typeface="Roboto" pitchFamily="34" charset="-120"/>
              </a:rPr>
              <a:t>/</a:t>
            </a:r>
            <a:r>
              <a:rPr lang="ko-KR" altLang="en-US" dirty="0" err="1">
                <a:solidFill>
                  <a:srgbClr val="3C3939"/>
                </a:solidFill>
                <a:latin typeface="+mn-lt"/>
                <a:cs typeface="Roboto" pitchFamily="34" charset="-120"/>
              </a:rPr>
              <a:t>Max</a:t>
            </a:r>
            <a:r>
              <a:rPr lang="ko-KR" altLang="en-US" dirty="0">
                <a:solidFill>
                  <a:srgbClr val="3C3939"/>
                </a:solidFill>
                <a:latin typeface="+mn-lt"/>
                <a:cs typeface="Roboto" pitchFamily="34" charset="-120"/>
              </a:rPr>
              <a:t> 유효성 검증, 초기 </a:t>
            </a:r>
            <a:r>
              <a:rPr lang="ko-KR" altLang="en-US" dirty="0" err="1">
                <a:solidFill>
                  <a:srgbClr val="3C3939"/>
                </a:solidFill>
                <a:latin typeface="+mn-lt"/>
                <a:cs typeface="Roboto" pitchFamily="34" charset="-120"/>
              </a:rPr>
              <a:t>목업</a:t>
            </a:r>
            <a:r>
              <a:rPr lang="ko-KR" altLang="en-US" dirty="0">
                <a:solidFill>
                  <a:srgbClr val="3C3939"/>
                </a:solidFill>
                <a:latin typeface="+mn-lt"/>
                <a:cs typeface="Roboto" pitchFamily="34" charset="-120"/>
              </a:rPr>
              <a:t> </a:t>
            </a:r>
            <a:endParaRPr lang="en-US" altLang="ko-KR" dirty="0">
              <a:solidFill>
                <a:srgbClr val="3C3939"/>
              </a:solidFill>
              <a:latin typeface="+mn-lt"/>
              <a:cs typeface="Roboto" pitchFamily="34" charset="-120"/>
            </a:endParaRPr>
          </a:p>
          <a:p>
            <a:pPr marL="446088" indent="-176213">
              <a:buFont typeface="Wingdings" panose="05000000000000000000" pitchFamily="2" charset="2"/>
              <a:buChar char="§"/>
            </a:pPr>
            <a:r>
              <a:rPr lang="ko-KR" altLang="en-US" b="1" dirty="0"/>
              <a:t>추론 결과 </a:t>
            </a:r>
            <a:r>
              <a:rPr lang="ko-KR" altLang="en-US" b="1" dirty="0" err="1"/>
              <a:t>출력부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우측</a:t>
            </a:r>
            <a:r>
              <a:rPr lang="en-US" altLang="ko-KR" b="1" dirty="0"/>
              <a:t>)    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분석 입력 데이터 요약 테이블, 1·3·5년 생존율 </a:t>
            </a:r>
            <a:r>
              <a:rPr lang="ko-KR" altLang="en-US" dirty="0" err="1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메트릭</a:t>
            </a:r>
            <a:r>
              <a:rPr lang="ko-KR" altLang="en-US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 카드 및 </a:t>
            </a:r>
            <a:r>
              <a:rPr lang="ko-KR" altLang="en-US" dirty="0" err="1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Plotly</a:t>
            </a:r>
            <a:r>
              <a:rPr lang="ko-KR" altLang="en-US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 듀얼 차트 구현 </a:t>
            </a:r>
            <a:endParaRPr lang="en-US" altLang="ko-KR" dirty="0">
              <a:solidFill>
                <a:srgbClr val="3C3939"/>
              </a:solidFill>
              <a:latin typeface="+mj-lt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3855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D67D6-41E3-4040-BA07-0F23E89C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사용자 인터페이스 (UI)</a:t>
            </a:r>
            <a:endParaRPr lang="ko-KR" altLang="en-US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50C6F3D4-321A-4C34-8493-183B615D4CCE}"/>
              </a:ext>
            </a:extLst>
          </p:cNvPr>
          <p:cNvSpPr/>
          <p:nvPr/>
        </p:nvSpPr>
        <p:spPr>
          <a:xfrm>
            <a:off x="6441440" y="2385519"/>
            <a:ext cx="5296746" cy="1268179"/>
          </a:xfrm>
          <a:prstGeom prst="rect">
            <a:avLst/>
          </a:prstGeom>
          <a:noFill/>
          <a:ln/>
        </p:spPr>
        <p:txBody>
          <a:bodyPr wrap="square" lIns="0" tIns="39872" rIns="0" bIns="0" rtlCol="0" anchor="t">
            <a:normAutofit/>
          </a:bodyPr>
          <a:lstStyle/>
          <a:p>
            <a:pPr marL="285750" indent="-285750" algn="l">
              <a:lnSpc>
                <a:spcPct val="114000"/>
              </a:lnSpc>
              <a:buSzPct val="100000"/>
              <a:buFontTx/>
              <a:buChar char="-"/>
            </a:pPr>
            <a:r>
              <a:rPr lang="ko-KR" altLang="en-US" b="1" dirty="0">
                <a:solidFill>
                  <a:srgbClr val="3C3939"/>
                </a:solidFill>
                <a:latin typeface="+mj-ea"/>
                <a:ea typeface="+mj-ea"/>
                <a:cs typeface="Roboto Bold" pitchFamily="34" charset="-120"/>
              </a:rPr>
              <a:t>"위치가 어디신가요?"</a:t>
            </a:r>
            <a:r>
              <a:rPr lang="ko-KR" altLang="en-US" dirty="0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 — '구' 선택 시 해당 하위 '동' 목록을</a:t>
            </a:r>
            <a:endParaRPr lang="en-US" altLang="ko-KR" dirty="0">
              <a:solidFill>
                <a:srgbClr val="3C3939"/>
              </a:solidFill>
              <a:latin typeface="+mj-ea"/>
              <a:ea typeface="+mj-ea"/>
              <a:cs typeface="Roboto" pitchFamily="34" charset="-120"/>
            </a:endParaRPr>
          </a:p>
          <a:p>
            <a:pPr algn="l">
              <a:lnSpc>
                <a:spcPct val="114000"/>
              </a:lnSpc>
              <a:buSzPct val="100000"/>
            </a:pPr>
            <a:r>
              <a:rPr lang="en-US" altLang="ko-KR" dirty="0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     </a:t>
            </a:r>
            <a:r>
              <a:rPr lang="ko-KR" altLang="en-US" dirty="0" err="1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API로</a:t>
            </a:r>
            <a:r>
              <a:rPr lang="ko-KR" altLang="en-US" dirty="0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 실시간 동적 호출</a:t>
            </a:r>
            <a:endParaRPr lang="en-US" altLang="ko-KR" dirty="0">
              <a:solidFill>
                <a:srgbClr val="3C3939"/>
              </a:solidFill>
              <a:latin typeface="+mj-ea"/>
              <a:ea typeface="+mj-ea"/>
              <a:cs typeface="Roboto" pitchFamily="34" charset="-120"/>
            </a:endParaRPr>
          </a:p>
          <a:p>
            <a:pPr marL="285750" indent="-285750" algn="l">
              <a:lnSpc>
                <a:spcPct val="114000"/>
              </a:lnSpc>
              <a:buSzPct val="100000"/>
              <a:buFontTx/>
              <a:buChar char="-"/>
            </a:pPr>
            <a:endParaRPr lang="ko-KR" dirty="0">
              <a:latin typeface="+mj-ea"/>
              <a:ea typeface="+mj-ea"/>
            </a:endParaRPr>
          </a:p>
          <a:p>
            <a:pPr marL="285750" indent="-285750" algn="l">
              <a:lnSpc>
                <a:spcPct val="114000"/>
              </a:lnSpc>
              <a:buSzPct val="100000"/>
              <a:buFontTx/>
              <a:buChar char="-"/>
            </a:pPr>
            <a:r>
              <a:rPr lang="ko-KR" altLang="en-US" b="1" dirty="0">
                <a:solidFill>
                  <a:srgbClr val="3C3939"/>
                </a:solidFill>
                <a:latin typeface="+mj-ea"/>
                <a:ea typeface="+mj-ea"/>
                <a:cs typeface="Roboto Bold" pitchFamily="34" charset="-120"/>
              </a:rPr>
              <a:t>"어떤 업종인가요?"</a:t>
            </a:r>
            <a:r>
              <a:rPr lang="ko-KR" altLang="en-US" dirty="0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 — 업종 선택 시 해당 업종의 권장 면적</a:t>
            </a:r>
            <a:endParaRPr lang="en-US" altLang="ko-KR" dirty="0">
              <a:solidFill>
                <a:srgbClr val="3C3939"/>
              </a:solidFill>
              <a:latin typeface="+mj-ea"/>
              <a:ea typeface="+mj-ea"/>
              <a:cs typeface="Roboto" pitchFamily="34" charset="-120"/>
            </a:endParaRPr>
          </a:p>
          <a:p>
            <a:pPr algn="l">
              <a:lnSpc>
                <a:spcPct val="114000"/>
              </a:lnSpc>
              <a:buSzPct val="100000"/>
            </a:pPr>
            <a:r>
              <a:rPr lang="en-US" altLang="ko-KR" dirty="0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    </a:t>
            </a:r>
            <a:r>
              <a:rPr lang="ko-KR" altLang="en-US" dirty="0">
                <a:solidFill>
                  <a:srgbClr val="3C3939"/>
                </a:solidFill>
                <a:latin typeface="+mj-ea"/>
                <a:ea typeface="+mj-ea"/>
                <a:cs typeface="Roboto" pitchFamily="34" charset="-120"/>
              </a:rPr>
              <a:t> 범위(예: 6.0㎡ ~ 157.3㎡)를 안내</a:t>
            </a:r>
            <a:endParaRPr lang="ko-KR" dirty="0">
              <a:latin typeface="+mj-ea"/>
              <a:ea typeface="+mj-ea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6898A7F-6795-4335-B6DA-050F0EEC0C29}"/>
              </a:ext>
            </a:extLst>
          </p:cNvPr>
          <p:cNvSpPr/>
          <p:nvPr/>
        </p:nvSpPr>
        <p:spPr>
          <a:xfrm>
            <a:off x="6441440" y="1965458"/>
            <a:ext cx="2461766" cy="183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+mj-ea"/>
                <a:ea typeface="+mj-ea"/>
                <a:cs typeface="Raleway" pitchFamily="34" charset="-120"/>
              </a:rPr>
              <a:t>몰입도 높은 질문형 UI</a:t>
            </a:r>
            <a:endParaRPr lang="ko-KR" sz="1600" b="1" dirty="0">
              <a:latin typeface="+mj-ea"/>
              <a:ea typeface="+mj-ea"/>
            </a:endParaRPr>
          </a:p>
        </p:txBody>
      </p:sp>
      <p:sp>
        <p:nvSpPr>
          <p:cNvPr id="25" name="Google Shape;133;p11">
            <a:extLst>
              <a:ext uri="{FF2B5EF4-FFF2-40B4-BE49-F238E27FC236}">
                <a16:creationId xmlns:a16="http://schemas.microsoft.com/office/drawing/2014/main" id="{D49026C5-E612-498E-A752-838E97241526}"/>
              </a:ext>
            </a:extLst>
          </p:cNvPr>
          <p:cNvSpPr txBox="1">
            <a:spLocks/>
          </p:cNvSpPr>
          <p:nvPr/>
        </p:nvSpPr>
        <p:spPr>
          <a:xfrm>
            <a:off x="628996" y="1169925"/>
            <a:ext cx="10848109" cy="79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indent="-182880">
              <a:lnSpc>
                <a:spcPct val="90000"/>
              </a:lnSpc>
              <a:buSzPts val="2000"/>
              <a:buFont typeface="Arial"/>
              <a:buChar char="●"/>
            </a:pPr>
            <a:r>
              <a:rPr lang="ko-KR" altLang="en-US" dirty="0"/>
              <a:t>추론을 위한 </a:t>
            </a:r>
            <a:r>
              <a:rPr lang="ko-KR" altLang="en-US" dirty="0" err="1"/>
              <a:t>입력부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좌측 </a:t>
            </a:r>
            <a:r>
              <a:rPr lang="en-US" altLang="ko-KR" dirty="0"/>
              <a:t>UI)</a:t>
            </a:r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A51CD3B-F87E-49B4-96A2-B1BD98003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269" y="1501932"/>
            <a:ext cx="3379745" cy="5328334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CA032BE-F685-4802-879C-BB88A27E4D33}"/>
              </a:ext>
            </a:extLst>
          </p:cNvPr>
          <p:cNvCxnSpPr>
            <a:cxnSpLocks/>
          </p:cNvCxnSpPr>
          <p:nvPr/>
        </p:nvCxnSpPr>
        <p:spPr>
          <a:xfrm>
            <a:off x="5459307" y="5066453"/>
            <a:ext cx="751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04F4529-C6F5-4F01-8E49-429F6542B94D}"/>
              </a:ext>
            </a:extLst>
          </p:cNvPr>
          <p:cNvCxnSpPr>
            <a:cxnSpLocks/>
          </p:cNvCxnSpPr>
          <p:nvPr/>
        </p:nvCxnSpPr>
        <p:spPr>
          <a:xfrm>
            <a:off x="5459307" y="2912533"/>
            <a:ext cx="751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14E359D-354A-4F27-9CE4-13B41F05A2C4}"/>
              </a:ext>
            </a:extLst>
          </p:cNvPr>
          <p:cNvSpPr txBox="1"/>
          <p:nvPr/>
        </p:nvSpPr>
        <p:spPr>
          <a:xfrm>
            <a:off x="6441439" y="4470399"/>
            <a:ext cx="5296747" cy="19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3C3939"/>
                </a:solidFill>
                <a:latin typeface="+mj-ea"/>
                <a:cs typeface="Roboto" pitchFamily="34" charset="-120"/>
              </a:rPr>
              <a:t>사용자 </a:t>
            </a:r>
            <a:r>
              <a:rPr lang="ko-KR" altLang="en-US" sz="1600" b="1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오입력</a:t>
            </a:r>
            <a:r>
              <a:rPr lang="ko-KR" altLang="en-US" sz="1600" b="1" dirty="0">
                <a:solidFill>
                  <a:srgbClr val="3C3939"/>
                </a:solidFill>
                <a:latin typeface="+mj-ea"/>
                <a:cs typeface="Roboto" pitchFamily="34" charset="-120"/>
              </a:rPr>
              <a:t> 방지를 위한 유효성 검증</a:t>
            </a:r>
            <a:endParaRPr lang="en-US" altLang="ko-KR" sz="1600" b="1" dirty="0">
              <a:solidFill>
                <a:srgbClr val="3C3939"/>
              </a:solidFill>
              <a:latin typeface="+mj-ea"/>
              <a:cs typeface="Roboto" pitchFamily="34" charset="-120"/>
            </a:endParaRPr>
          </a:p>
          <a:p>
            <a:endParaRPr lang="en-US" altLang="ko-KR" dirty="0">
              <a:solidFill>
                <a:srgbClr val="3C3939"/>
              </a:solidFill>
              <a:latin typeface="+mj-ea"/>
              <a:cs typeface="Roboto" pitchFamily="34" charset="-120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매장 규모(㎡) 및 함께 일할 사람 수(1~100명)의 </a:t>
            </a:r>
            <a:r>
              <a:rPr lang="ko-KR" altLang="en-US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Min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/</a:t>
            </a:r>
            <a:r>
              <a:rPr lang="ko-KR" altLang="en-US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Max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 범위를 강제하여 </a:t>
            </a:r>
            <a:r>
              <a:rPr lang="ko-KR" altLang="en-US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오입력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 차단</a:t>
            </a:r>
            <a:endParaRPr lang="en-US" altLang="ko-KR" dirty="0">
              <a:solidFill>
                <a:srgbClr val="3C3939"/>
              </a:solidFill>
              <a:latin typeface="+mj-ea"/>
              <a:cs typeface="Roboto" pitchFamily="34" charset="-120"/>
            </a:endParaRPr>
          </a:p>
          <a:p>
            <a:pPr marL="285750" indent="-285750">
              <a:buFontTx/>
              <a:buChar char="-"/>
            </a:pPr>
            <a:endParaRPr lang="ko-KR" altLang="ko-KR" dirty="0">
              <a:latin typeface="+mj-ea"/>
            </a:endParaRPr>
          </a:p>
          <a:p>
            <a:pPr marL="285750" indent="-285750">
              <a:lnSpc>
                <a:spcPct val="114000"/>
              </a:lnSpc>
              <a:buSzPct val="100000"/>
              <a:buFontTx/>
              <a:buChar char="-"/>
            </a:pPr>
            <a:r>
              <a:rPr lang="ko-KR" altLang="en-US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백엔드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 서버(</a:t>
            </a:r>
            <a:r>
              <a:rPr lang="ko-KR" altLang="en-US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FastAPI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) </a:t>
            </a:r>
            <a:r>
              <a:rPr lang="ko-KR" altLang="en-US" dirty="0" err="1">
                <a:solidFill>
                  <a:srgbClr val="3C3939"/>
                </a:solidFill>
                <a:latin typeface="+mj-ea"/>
                <a:cs typeface="Roboto" pitchFamily="34" charset="-120"/>
              </a:rPr>
              <a:t>미실행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 시 즉각적인 에러 메시지 알림</a:t>
            </a:r>
            <a:endParaRPr lang="en-US" altLang="ko-KR" dirty="0">
              <a:solidFill>
                <a:srgbClr val="3C3939"/>
              </a:solidFill>
              <a:latin typeface="+mj-ea"/>
              <a:cs typeface="Roboto" pitchFamily="34" charset="-120"/>
            </a:endParaRPr>
          </a:p>
          <a:p>
            <a:pPr>
              <a:lnSpc>
                <a:spcPct val="114000"/>
              </a:lnSpc>
              <a:buSzPct val="100000"/>
            </a:pPr>
            <a:r>
              <a:rPr lang="en-US" altLang="ko-KR" dirty="0">
                <a:solidFill>
                  <a:srgbClr val="3C3939"/>
                </a:solidFill>
                <a:latin typeface="+mj-ea"/>
                <a:cs typeface="Roboto" pitchFamily="34" charset="-120"/>
              </a:rPr>
              <a:t>     </a:t>
            </a:r>
            <a:r>
              <a:rPr lang="ko-KR" altLang="en-US" dirty="0">
                <a:solidFill>
                  <a:srgbClr val="3C3939"/>
                </a:solidFill>
                <a:latin typeface="+mj-ea"/>
                <a:cs typeface="Roboto" pitchFamily="34" charset="-120"/>
              </a:rPr>
              <a:t>및 프로세스 중단 방지</a:t>
            </a:r>
            <a:endParaRPr lang="ko-KR" altLang="ko-KR" dirty="0">
              <a:latin typeface="+mj-ea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600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A43CC-0167-43C8-8119-1C5CB6BA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사용자 인터페이스 (UI)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Google Shape;133;p11">
            <a:extLst>
              <a:ext uri="{FF2B5EF4-FFF2-40B4-BE49-F238E27FC236}">
                <a16:creationId xmlns:a16="http://schemas.microsoft.com/office/drawing/2014/main" id="{5E582B31-6165-4C64-A616-18BEAB7CEACF}"/>
              </a:ext>
            </a:extLst>
          </p:cNvPr>
          <p:cNvSpPr txBox="1">
            <a:spLocks/>
          </p:cNvSpPr>
          <p:nvPr/>
        </p:nvSpPr>
        <p:spPr>
          <a:xfrm>
            <a:off x="628997" y="1252447"/>
            <a:ext cx="10848109" cy="39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indent="-182880">
              <a:lnSpc>
                <a:spcPct val="90000"/>
              </a:lnSpc>
              <a:buSzPts val="2000"/>
              <a:buFont typeface="Arial"/>
              <a:buChar char="●"/>
            </a:pPr>
            <a:r>
              <a:rPr lang="ko-KR" altLang="en-US" dirty="0"/>
              <a:t>추론 결과 </a:t>
            </a:r>
            <a:r>
              <a:rPr lang="ko-KR" altLang="en-US" dirty="0" err="1"/>
              <a:t>출력부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우측 </a:t>
            </a:r>
            <a:r>
              <a:rPr lang="en-US" altLang="ko-KR" dirty="0"/>
              <a:t>UI)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720702-5C45-4436-833E-40A337EB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97" y="1769595"/>
            <a:ext cx="7267450" cy="42206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1BF4C7-4964-4B49-8CCB-4BB494834047}"/>
              </a:ext>
            </a:extLst>
          </p:cNvPr>
          <p:cNvSpPr txBox="1"/>
          <p:nvPr/>
        </p:nvSpPr>
        <p:spPr>
          <a:xfrm>
            <a:off x="8003960" y="2130495"/>
            <a:ext cx="3957747" cy="332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</a:rPr>
              <a:t>듀얼 인터랙티브 차트 비교 분석</a:t>
            </a:r>
            <a:endParaRPr lang="en-US" altLang="ko-KR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좌측</a:t>
            </a:r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] </a:t>
            </a:r>
            <a:r>
              <a:rPr lang="ko-KR" altLang="en-US" b="1" dirty="0" err="1">
                <a:solidFill>
                  <a:schemeClr val="tx1"/>
                </a:solidFill>
                <a:latin typeface="+mn-ea"/>
                <a:ea typeface="+mn-ea"/>
              </a:rPr>
              <a:t>머신러닝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 모델 예측 생존율</a:t>
            </a:r>
            <a:endParaRPr lang="en-US" altLang="ko-KR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사용자의 복합 조건을 학습된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모델이 추론한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년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5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년 추세선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우측</a:t>
            </a:r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] DB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 데이터 평균 생존율</a:t>
            </a:r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실제 데이터베이스 내 동일 상권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업종 표본 통계 평균을 주황색 그래프로 함께 표기하여 모델 결과의 객관적 비교 및 인사이트 제공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0848353"/>
      </p:ext>
    </p:extLst>
  </p:cSld>
  <p:clrMapOvr>
    <a:masterClrMapping/>
  </p:clrMapOvr>
</p:sld>
</file>

<file path=ppt/theme/theme1.xml><?xml version="1.0" encoding="utf-8"?>
<a:theme xmlns:a="http://schemas.openxmlformats.org/drawingml/2006/main" name="2_틀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2937</Words>
  <Application>Microsoft Office PowerPoint</Application>
  <PresentationFormat>와이드스크린</PresentationFormat>
  <Paragraphs>398</Paragraphs>
  <Slides>28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1" baseType="lpstr">
      <vt:lpstr>Noto Sans KR</vt:lpstr>
      <vt:lpstr>Noto Sans Symbols</vt:lpstr>
      <vt:lpstr>Raleway</vt:lpstr>
      <vt:lpstr>Roboto</vt:lpstr>
      <vt:lpstr>Roboto Bold</vt:lpstr>
      <vt:lpstr>맑은 고딕</vt:lpstr>
      <vt:lpstr>맑은 고딕</vt:lpstr>
      <vt:lpstr>맑은 고딕 Semilight</vt:lpstr>
      <vt:lpstr>Abadi</vt:lpstr>
      <vt:lpstr>Arial</vt:lpstr>
      <vt:lpstr>Corbel</vt:lpstr>
      <vt:lpstr>Wingdings</vt:lpstr>
      <vt:lpstr>2_틀</vt:lpstr>
      <vt:lpstr>머신러닝 팀 프로젝트 </vt:lpstr>
      <vt:lpstr>프로젝트 개요</vt:lpstr>
      <vt:lpstr>데이터 준비</vt:lpstr>
      <vt:lpstr>데이터 준비</vt:lpstr>
      <vt:lpstr>데이터 준비 (구현 코드 설명)</vt:lpstr>
      <vt:lpstr>데이터 준비 (구현 코드 설명)</vt:lpstr>
      <vt:lpstr>데이터 준비 (구현 코드 설명) - Feature Importance 기반 Feature 선정</vt:lpstr>
      <vt:lpstr>학습 모델</vt:lpstr>
      <vt:lpstr>학습 모델 </vt:lpstr>
      <vt:lpstr>학습 모델 – (참고) 랜덤포레스트 학습 모델 저장</vt:lpstr>
      <vt:lpstr>학습 모델을 이용한 추론</vt:lpstr>
      <vt:lpstr>학습 모델을 이용한 추론－출력결과</vt:lpstr>
      <vt:lpstr>모델을 활용한 AI 서비스 구조</vt:lpstr>
      <vt:lpstr>모델을 활용한 AI 서비스 구조</vt:lpstr>
      <vt:lpstr>웹 서버 구조</vt:lpstr>
      <vt:lpstr>웹 서버 구조</vt:lpstr>
      <vt:lpstr>웹 서버 구조</vt:lpstr>
      <vt:lpstr>웹 서버 구조</vt:lpstr>
      <vt:lpstr>웹 서버 구조</vt:lpstr>
      <vt:lpstr>웹 서버 구조</vt:lpstr>
      <vt:lpstr>웹 서버 구조</vt:lpstr>
      <vt:lpstr>웹 서버 구조</vt:lpstr>
      <vt:lpstr>웹 서버 구조</vt:lpstr>
      <vt:lpstr>웹 서버 구조</vt:lpstr>
      <vt:lpstr>사용자 인터페이스 (UI)</vt:lpstr>
      <vt:lpstr>사용자 인터페이스 (UI)</vt:lpstr>
      <vt:lpstr>사용자 인터페이스 (UI)</vt:lpstr>
      <vt:lpstr>사용자 인터페이스 (UI)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머신러닝 팀 프로젝트</dc:title>
  <dc:creator>화현 유</dc:creator>
  <cp:lastModifiedBy>user</cp:lastModifiedBy>
  <cp:revision>65</cp:revision>
  <dcterms:created xsi:type="dcterms:W3CDTF">2026-08-11T11:37:20Z</dcterms:created>
  <dcterms:modified xsi:type="dcterms:W3CDTF">2026-08-13T05:45:38Z</dcterms:modified>
</cp:coreProperties>
</file>